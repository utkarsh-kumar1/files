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30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3" r:id="rId48"/>
    <p:sldId id="301" r:id="rId49"/>
    <p:sldId id="304" r:id="rId50"/>
    <p:sldId id="306" r:id="rId51"/>
    <p:sldId id="307" r:id="rId52"/>
    <p:sldId id="308" r:id="rId53"/>
    <p:sldId id="309" r:id="rId54"/>
    <p:sldId id="310" r:id="rId55"/>
    <p:sldId id="311" r:id="rId56"/>
    <p:sldId id="312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7AFBF-6380-4EB8-978E-44359A463FDF}" type="datetimeFigureOut">
              <a:t>10/4/2026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6C497-2BD9-42EF-9296-4C30725345D6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2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89639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03125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56906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10198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64424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52606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50578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93333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007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19672"/>
            <a:ext cx="11183112" cy="0"/>
          </a:xfrm>
          <a:prstGeom prst="line">
            <a:avLst/>
          </a:prstGeom>
          <a:noFill/>
          <a:ln w="12700">
            <a:solidFill>
              <a:srgbClr val="D7DEE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132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8793715" y="0"/>
            <a:ext cx="1446462" cy="6858000"/>
          </a:xfrm>
          <a:custGeom>
            <a:avLst/>
            <a:gdLst/>
            <a:ahLst/>
            <a:cxnLst/>
            <a:rect l="l" t="t" r="r" b="b"/>
            <a:pathLst>
              <a:path w="2169693" h="10287000">
                <a:moveTo>
                  <a:pt x="2169692" y="0"/>
                </a:moveTo>
                <a:lnTo>
                  <a:pt x="0" y="0"/>
                </a:lnTo>
                <a:lnTo>
                  <a:pt x="0" y="10287000"/>
                </a:lnTo>
                <a:lnTo>
                  <a:pt x="2169692" y="10287000"/>
                </a:lnTo>
                <a:lnTo>
                  <a:pt x="2169692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-8706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64734" y="0"/>
            <a:ext cx="9844965" cy="6858000"/>
            <a:chOff x="0" y="0"/>
            <a:chExt cx="2287864" cy="15937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87864" cy="1593725"/>
            </a:xfrm>
            <a:custGeom>
              <a:avLst/>
              <a:gdLst/>
              <a:ahLst/>
              <a:cxnLst/>
              <a:rect l="l" t="t" r="r" b="b"/>
              <a:pathLst>
                <a:path w="2287864" h="1593725">
                  <a:moveTo>
                    <a:pt x="39319" y="0"/>
                  </a:moveTo>
                  <a:lnTo>
                    <a:pt x="2248545" y="0"/>
                  </a:lnTo>
                  <a:cubicBezTo>
                    <a:pt x="2258973" y="0"/>
                    <a:pt x="2268974" y="4143"/>
                    <a:pt x="2276348" y="11516"/>
                  </a:cubicBezTo>
                  <a:cubicBezTo>
                    <a:pt x="2283721" y="18890"/>
                    <a:pt x="2287864" y="28891"/>
                    <a:pt x="2287864" y="39319"/>
                  </a:cubicBezTo>
                  <a:lnTo>
                    <a:pt x="2287864" y="1554406"/>
                  </a:lnTo>
                  <a:cubicBezTo>
                    <a:pt x="2287864" y="1564834"/>
                    <a:pt x="2283721" y="1574835"/>
                    <a:pt x="2276348" y="1582209"/>
                  </a:cubicBezTo>
                  <a:cubicBezTo>
                    <a:pt x="2268974" y="1589583"/>
                    <a:pt x="2258973" y="1593725"/>
                    <a:pt x="2248545" y="1593725"/>
                  </a:cubicBezTo>
                  <a:lnTo>
                    <a:pt x="39319" y="1593725"/>
                  </a:lnTo>
                  <a:cubicBezTo>
                    <a:pt x="28891" y="1593725"/>
                    <a:pt x="18890" y="1589583"/>
                    <a:pt x="11516" y="1582209"/>
                  </a:cubicBezTo>
                  <a:cubicBezTo>
                    <a:pt x="4143" y="1574835"/>
                    <a:pt x="0" y="1564834"/>
                    <a:pt x="0" y="1554406"/>
                  </a:cubicBezTo>
                  <a:lnTo>
                    <a:pt x="0" y="39319"/>
                  </a:lnTo>
                  <a:cubicBezTo>
                    <a:pt x="0" y="28891"/>
                    <a:pt x="4143" y="18890"/>
                    <a:pt x="11516" y="11516"/>
                  </a:cubicBezTo>
                  <a:cubicBezTo>
                    <a:pt x="18890" y="4143"/>
                    <a:pt x="28891" y="0"/>
                    <a:pt x="39319" y="0"/>
                  </a:cubicBezTo>
                  <a:close/>
                </a:path>
              </a:pathLst>
            </a:custGeom>
            <a:blipFill>
              <a:blip r:embed="rId3"/>
              <a:stretch>
                <a:fillRect t="-333" b="-333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939436" y="0"/>
            <a:ext cx="10219667" cy="6858000"/>
            <a:chOff x="0" y="0"/>
            <a:chExt cx="4037399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37399" cy="2709333"/>
            </a:xfrm>
            <a:custGeom>
              <a:avLst/>
              <a:gdLst/>
              <a:ahLst/>
              <a:cxnLst/>
              <a:rect l="l" t="t" r="r" b="b"/>
              <a:pathLst>
                <a:path w="4037399" h="2709333">
                  <a:moveTo>
                    <a:pt x="38888" y="0"/>
                  </a:moveTo>
                  <a:lnTo>
                    <a:pt x="3998512" y="0"/>
                  </a:lnTo>
                  <a:cubicBezTo>
                    <a:pt x="4019989" y="0"/>
                    <a:pt x="4037399" y="17411"/>
                    <a:pt x="4037399" y="38888"/>
                  </a:cubicBezTo>
                  <a:lnTo>
                    <a:pt x="4037399" y="2670446"/>
                  </a:lnTo>
                  <a:cubicBezTo>
                    <a:pt x="4037399" y="2680759"/>
                    <a:pt x="4033302" y="2690650"/>
                    <a:pt x="4026009" y="2697943"/>
                  </a:cubicBezTo>
                  <a:cubicBezTo>
                    <a:pt x="4018717" y="2705236"/>
                    <a:pt x="4008825" y="2709333"/>
                    <a:pt x="3998512" y="2709333"/>
                  </a:cubicBezTo>
                  <a:lnTo>
                    <a:pt x="38888" y="2709333"/>
                  </a:lnTo>
                  <a:cubicBezTo>
                    <a:pt x="17411" y="2709333"/>
                    <a:pt x="0" y="2691923"/>
                    <a:pt x="0" y="2670446"/>
                  </a:cubicBezTo>
                  <a:lnTo>
                    <a:pt x="0" y="38888"/>
                  </a:lnTo>
                  <a:cubicBezTo>
                    <a:pt x="0" y="28574"/>
                    <a:pt x="4097" y="18683"/>
                    <a:pt x="11390" y="11390"/>
                  </a:cubicBezTo>
                  <a:cubicBezTo>
                    <a:pt x="18683" y="4097"/>
                    <a:pt x="28574" y="0"/>
                    <a:pt x="38888" y="0"/>
                  </a:cubicBezTo>
                  <a:close/>
                </a:path>
              </a:pathLst>
            </a:custGeom>
            <a:solidFill>
              <a:srgbClr val="066CF4">
                <a:alpha val="85882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037399" cy="273790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93"/>
                </a:lnSpc>
              </a:pPr>
              <a:endParaRPr sz="1200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85800" y="3644900"/>
            <a:ext cx="8386721" cy="1473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729"/>
              </a:lnSpc>
            </a:pPr>
            <a:r>
              <a:rPr lang="en-US" sz="6662" b="1" spc="-546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MICROSOFT WORD</a:t>
            </a:r>
          </a:p>
          <a:p>
            <a:pPr>
              <a:lnSpc>
                <a:spcPts val="5729"/>
              </a:lnSpc>
            </a:pPr>
            <a:r>
              <a:rPr lang="en-US" sz="6662" b="1" spc="-546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FOR BEGINNERS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5304366"/>
            <a:ext cx="9286959" cy="337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38"/>
              </a:lnSpc>
            </a:pPr>
            <a:r>
              <a:rPr lang="en-US" sz="2027" spc="48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COMPLETE STEP-BY-STEP TRAINING COURSE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21729" y="730272"/>
            <a:ext cx="1680343" cy="250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999" dirty="0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Education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98285" y="5672900"/>
            <a:ext cx="407915" cy="49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999" dirty="0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31520"/>
            <a:ext cx="10881360" cy="507492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5240">
            <a:solidFill>
              <a:srgbClr val="D9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" y="1170432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70432" y="11887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 WORD PRACTICAL GUIDE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1783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 Word — Tabs,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 &amp; Step-by-Step Procedures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312724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self-explanatory workshop deck: find the feature, follow the click path, perform the steps, and verify the result.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78992" y="4096512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70432" y="4114800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75104" y="4096512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66544" y="4114800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71216" y="4096512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62656" y="4114800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67328" y="4096512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58768" y="4114800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4096512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4114800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59552" y="4096512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50992" y="4114800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55664" y="4096512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47104" y="4114800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823960" y="1463040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23960" y="1463040"/>
            <a:ext cx="54864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06840" y="1609344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NOTE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006840" y="1892808"/>
            <a:ext cx="1691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Ribbon names and locations can vary slightly between Word versions. The feature names and workflow remain broadly the same.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823960" y="3520440"/>
            <a:ext cx="2057400" cy="1783080"/>
          </a:xfrm>
          <a:prstGeom prst="roundRect">
            <a:avLst>
              <a:gd name="adj" fmla="val 6154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23960" y="3520440"/>
            <a:ext cx="54864" cy="1783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06840" y="3666744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USE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06840" y="3950208"/>
            <a:ext cx="16916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Read the Click Path.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Perform each numbered step.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Compare your screen with Expected Result.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Repeat the Try This example.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78992" y="5230368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Syllabus coverage: File • Home • Insert • Layout • Table Tools • Mailings • Review • View • Shortcut Keys</a:t>
            </a:r>
            <a:endParaRPr lang="en-US" sz="11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987552"/>
            <a:ext cx="10881360" cy="416052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5240">
            <a:solidFill>
              <a:srgbClr val="D7DE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87552"/>
            <a:ext cx="146304" cy="4160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" y="1353312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13716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8745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Word interface &amp; file operations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761488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commands used to create, open, save, convert, protect and print documents.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97764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the Click Path → perform the steps → check the Expected Result.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24128" y="4709160"/>
            <a:ext cx="2468880" cy="292608"/>
          </a:xfrm>
          <a:prstGeom prst="roundRect">
            <a:avLst>
              <a:gd name="adj" fmla="val 25000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5568" y="4727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SELF-EXPLANATORY PRACTICAL GUIDE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652760" y="6080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 •  Open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an existing document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4708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1109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3580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9981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2452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8853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1324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7725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→ Open → Browse → select the .docx file → Open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Microsoft Word and select File.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Open, then Browse to the folder containing the document.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the file and click Open.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the document content and formatting appear correctly.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selected document opens in Word and can now be edited.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any .docx file from Documents and check its title at the top.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1030659" y="6207843"/>
            <a:ext cx="10689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Keyboard shortcut: Ctrl + O opens the Open dialog.</a:t>
            </a:r>
            <a:endParaRPr lang="en-US" sz="11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 •  Save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Saving a document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4708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1109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3580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9981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2452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8853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→ Save → choose location/name only when Word asks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creating or editing the document, select File → Save.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time, choose a location and enter a file name.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default Word format (.docx) unless another format is required.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again after important edits.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changes are stored in the document file.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“My First Word Document”, save it as MyDocument.docx, close and reopen it.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010412" y="6213348"/>
            <a:ext cx="10689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Keyboard shortcut: Ctrl + S saves the current document.</a:t>
            </a:r>
            <a:endParaRPr lang="en-US" sz="11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 •  Save 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Changing format with Save 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4708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1109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3580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9981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Type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→ Save As → Browse → Save as type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document and select File → Save As.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destination folder and enter a file name.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Save as type list.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the required format, such as Word Document or PDF, then save.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second copy is created in the selected format; the original file remains available.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a Word document as PDF and open the PDF to verify the layout.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060704" y="6236208"/>
            <a:ext cx="10689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Save As when you need a separate copy or a different file format.</a:t>
            </a:r>
            <a:endParaRPr lang="en-US" sz="11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 •  Export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Importing, exporting &amp; converting documents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4708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1109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As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3580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9981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source file → File → Save As / Export → choose target format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source document in Word.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another editable format, use File → Save As and select the target type.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PDF, use File → Export or Save As → PDF.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converted file and verify tables, images and page layout.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document is available in another file format while preserving as much layout as the target format allows.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.docx → PDF. Compare page breaks and table alignment.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982980" y="6227064"/>
            <a:ext cx="10689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can change advanced formatting when the target format supports fewer Word features.</a:t>
            </a:r>
            <a:endParaRPr lang="en-US" sz="11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 •  New / Help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 &amp; Help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4708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1109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3580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9981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→ New → choose a template  |  Help → type your question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File → New and choose a blank document or a template.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using a template, select the template and create the document.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assistance, open Help and type a feature name or question.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the matching help topic and follow its instructions.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ready-made document starts from the selected template, or Word displays help for the requested feature.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Resume template document, then use Help to search “change margins”.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995763" y="6213348"/>
            <a:ext cx="10689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 save time by providing predefined layout and formatting.</a:t>
            </a:r>
            <a:endParaRPr lang="en-US" sz="11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 •  Protect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security / protection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47088" y="1901952"/>
            <a:ext cx="1527048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11096" y="2011680"/>
            <a:ext cx="1399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Document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65576" y="1901952"/>
            <a:ext cx="1207008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29584" y="2011680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→ Info → Protect Document → choose a protection method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document and select File → Info.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Protect Document.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the required protection option available in your Word version.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and confirm the password/restriction when prompted.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document has an added protection layer, such as restricted editing or password protection.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a password to a practice document, close it, and confirm Word asks for the password when reopening.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088136" y="6185916"/>
            <a:ext cx="10689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password safe. Do not use document protection as a substitute for secure storage.</a:t>
            </a:r>
            <a:endParaRPr lang="en-US" sz="11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 •  Print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Printing documents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→ Print → Printer → Settings → Preview → Print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File → Print.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printer and specify copies or page range.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Print Preview on the right.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 orientation, paper/other visible settings if required, then click Print.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selected pages are sent to the chosen printer using the specified settings.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 pages 1–2 only, with 2 copies, and verify the preview first.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60704" y="6216800"/>
            <a:ext cx="10689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Ctrl + P opens the Print screen directly.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987552"/>
            <a:ext cx="10881360" cy="416052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5240">
            <a:solidFill>
              <a:srgbClr val="D7DE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87552"/>
            <a:ext cx="146304" cy="41605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" y="1353312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13716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8745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Home tab — editing &amp; text formatting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761488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text, move content, undo mistakes, and control font and paragraph appearance.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97764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the Click Path → perform the steps → check the Expected Result.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24128" y="4709160"/>
            <a:ext cx="2468880" cy="292608"/>
          </a:xfrm>
          <a:prstGeom prst="roundRect">
            <a:avLst>
              <a:gd name="adj" fmla="val 25000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5568" y="4727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SELF-EXPLANATORY PRACTICAL GUIDE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652760" y="6080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 •  Clipboard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Cut, Copy &amp; Paste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99616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Clipboard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4708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1109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3580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9981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2452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8853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→ Clipboard → Cut / Copy → click destination → Paste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the text or object to move/copy.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Cut to move it or Copy to duplicate it.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at the destination location.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Paste and check the inserted content.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Cut moves the selection; Copy keeps the original and creates a duplicate.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 sentence, copy it, click at the end of the paragraph and paste it.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094944" y="6204204"/>
            <a:ext cx="10689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Ctrl + X = Cut, Ctrl + C = Copy, Ctrl + V = Paste.</a:t>
            </a:r>
            <a:endParaRPr lang="en-US" sz="11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 •  Undo / Redo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Undo and Redo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99616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Clipboard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4708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1109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3580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9981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Access Toolbar / Home-area controls → Undo or Redo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 a change, such as deleting a sentence.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Undo to reverse the last action.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Redo to restore an action that was undone.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as needed, watching the document after each action.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Undo reverses recent changes; Redo reapplies a change that was undone.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a paragraph → Undo → Redo → observe the document return to each state.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060704" y="6212275"/>
            <a:ext cx="10689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Ctrl + Z = Undo; Ctrl + Y = Redo.</a:t>
            </a:r>
            <a:endParaRPr lang="en-US" sz="11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 •  Font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 selection, style &amp; size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99616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Clipboard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4708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1109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3580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9981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2452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8853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1324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7725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→ Font → select font name → select size / font style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the text you want to format.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font-name list and choose a typeface.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font-size list and choose a size, or type the size.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a font style available for the selected text.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selected characters use the chosen font type and size.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“Computer Science”, then apply a different font and increase it to 20 pt.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1094944" y="6227064"/>
            <a:ext cx="10689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text first; otherwise, the new formatting usually applies to the next text you type.</a:t>
            </a:r>
            <a:endParaRPr lang="en-US" sz="11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 •  Font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 colour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99616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→ Font → Font Color ▼ → choose a colour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the target text.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Font Color drop-down.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colour from the palette.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elsewhere and verify only the selected text changed colour.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selected text displays in the chosen font colour.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words “Important Notice” red while leaving the rest of the paragraph unchanged.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58952" y="6455664"/>
            <a:ext cx="1068933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colour sparingly so the document remains readable when printed.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 •  Font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Bold, Italic &amp; Underline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99616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→ Font → B / I / U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the word or phrase.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B for Bold, I for Italic, or U for Underline.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more than one when required.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the same control again to remove the formatting.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selected text is visually emphasized according to the chosen style.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 “MS Word Workshop” as Bold + Italic and underline the word Workshop.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94944" y="6204204"/>
            <a:ext cx="10689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Ctrl + B, Ctrl + I and Ctrl + U are the matching shortcuts.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 •  Font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settings &amp; highlighting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99616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→ Font → Change Case / Text Highlight Color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the text.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Change Case and select UPPERCASE, lowercase, Title Case or another available option.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the text again if needed and choose Text Highlight Color.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the highlight colour and check the result.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Letter casing changes without retyping, and the selected text receives a visible highlight.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“computer programming” to “COMPUTER PROGRAMMING” and highlight it.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188720" y="6185916"/>
            <a:ext cx="10689336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Highlighting is different from font colour: highlight changes the background behind the text.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 •  Symbols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Inserting special symbols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40864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4708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1109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35808" y="1901952"/>
            <a:ext cx="1335024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99816" y="2011680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62272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26280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Symbols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→ Symbols → Symbol → More Symbols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the cursor where the symbol should appear.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Insert → Symbol.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symbol from the available list or More Symbols.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Insert, then Close the symbol dialog.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chosen special character is inserted at the cursor position.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symbols such as ©, ₹, ± or → into a paragraph.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207008" y="6184330"/>
            <a:ext cx="10689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symbols depend on the selected font and Unicode support.</a:t>
            </a:r>
            <a:endParaRPr lang="en-US" sz="11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 •  Styles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Applying a paragraph style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99616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4708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1109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3580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9981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→ Styles → choose a paragraph style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the cursor in the paragraph or select the paragraph.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Styles gallery.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required style.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paragraph’s appearance and spacing.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paragraph uses a consistent preset formatting style.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a Heading style to “Introduction” and a normal paragraph style to its description.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758952" y="6455664"/>
            <a:ext cx="1068933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Styles are useful when the same formatting must be reused consistently.</a:t>
            </a:r>
            <a:endParaRPr lang="en-US" sz="11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 •  Paragraph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 alignment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99616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→ Paragraph → Align Left / Center / Right / Justify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the cursor in the paragraph or select multiple paragraphs.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Align Left, Center, Right or Justify.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how the paragraph edges change.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alignment that matches the document requirement.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paragraph text is aligned to the selected position.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 a title, then justify the body paragraph below it.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60704" y="6220812"/>
            <a:ext cx="10689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Ctrl + L = left, Ctrl + E = center, Ctrl + R = right, Ctrl + J = justify.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 •  Paragraph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 indents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99616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→ Paragraph → Increase/Decrease Indent  |  Ruler for exact indents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or place the cursor in the paragraph.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Increase Indent or Decrease Indent.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more control, use the indent markers on the ruler.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first-line or left/right position visually.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paragraph starts farther from or closer to the page margin.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Indent a quoted paragraph by one level without changing the page margin.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161288" y="6191631"/>
            <a:ext cx="10689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ruler when you need precise left, right or first-line indentation.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 •  Paragraph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spacing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99616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→ Paragraph → Line and Paragraph Spacing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the paragraph(s).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Line and Paragraph Spacing.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spacing value such as 1.0, 1.15, 1.5 or 2.0.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space between lines and paragraphs.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vertical spacing between lines changes for the selected paragraphs.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1.5 line spacing to a one-page report paragraph.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60704" y="6231102"/>
            <a:ext cx="10689336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spacing affects lines inside a paragraph; paragraph spacing controls space before/after paragraphs.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 •  Paragraph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99616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→ Paragraph → Bullets ▼ → choose a bullet style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separate items on separate lines or select an existing list.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the lines.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Bullets and select the required bullet style.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Enter for the next bullet and Enter twice to finish the list.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item appears as a bulleted list item with consistent indentation.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list of 4 MS Word features: Formatting, Tables, Mail Merge, Printing.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69848" y="6226691"/>
            <a:ext cx="10689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 are best for unordered information.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 •  Paragraph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99616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→ Paragraph → Numbering ▼ → choose a numbering style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each step on a separate line.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the lines.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Numbering and select the required style.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the sequence if a step is inserted or removed.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list receives an automatic numbered sequence.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numbered steps for “How to Save a Document”.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60704" y="6231636"/>
            <a:ext cx="10689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Numbering is useful when order matters.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 •  Editing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Find, Search &amp; Replace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99616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→ Editing → Find / Replace  |  Ctrl + F / Ctrl + 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Find and type the word or phrase you need to locate.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each match and move through the results.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replacement, open Replace and enter the new text.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Replace or Replace All only after checking the target text carefully.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finds occurrences quickly and can change matching text without manual searching.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“Word” in the document; then replace “MS Word” with “Microsoft Word”.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58952" y="6455664"/>
            <a:ext cx="1068933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All is powerful—review the search term before using it.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987552"/>
            <a:ext cx="10881360" cy="416052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5240">
            <a:solidFill>
              <a:srgbClr val="D7DE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87552"/>
            <a:ext cx="146304" cy="4160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" y="1353312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13716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8745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Layout &amp; page formatting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761488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page size-related settings, margins, breaks, borders and shading.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97764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the Click Path → perform the steps → check the Expected Result.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24128" y="4709160"/>
            <a:ext cx="2468880" cy="292608"/>
          </a:xfrm>
          <a:prstGeom prst="roundRect">
            <a:avLst>
              <a:gd name="adj" fmla="val 25000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5568" y="4727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SELF-EXPLANATORY PRACTICAL GUIDE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652760" y="6080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 •  Page Setup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formatting &amp; Page Setup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82112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47088" y="1901952"/>
            <a:ext cx="114300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11096" y="2011680"/>
            <a:ext cx="1014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Setup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8152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4553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7024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3425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Arrange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→ Page Setup → use the available page-format controls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Layout tab.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Page Setup area for page-related settings.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required page options offered by your Word version.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page preview and document flow after the change.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document page is formatted according to the selected page settings.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a simple one-page notice and adjust its page setup before printing.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117621" y="6223845"/>
            <a:ext cx="10689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some Word versions, page-related commands are spread across Layout and Design tabs.</a:t>
            </a:r>
            <a:endParaRPr lang="en-US" sz="11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 •  Page Setup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82112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14300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1014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Setup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→ Margins → choose a preset or Custom Margins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Layout → Margins.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preset margin option, or select Custom Margins.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top, bottom, left and right values when customizing.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settings and observe the text area change.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writable area between the page edge and document text changes.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all margins to 1 inch (or 2.54 cm) and check the page.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69848" y="6204204"/>
            <a:ext cx="10689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Margins affect the entire page area; paragraph indents affect selected paragraphs.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 •  Breaks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 break &amp; line break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82112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14300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1014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Setup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9280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5681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→ Breaks → select the needed break type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the cursor where the content must stop.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columns, create or use a multi-column layout first, then insert a Column Break.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manual line break inside the same paragraph, use Shift + Enter.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where the next text starts.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Column Break moves following text to the next column; a Line Break starts a new line without creating a new paragraph.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 two-column notice, move a heading to the top of the second column using Column Break.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60704" y="6217920"/>
            <a:ext cx="10689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Break ≠ Paragraph Break. Shift + Enter creates a line break; Enter creates a new paragraph.</a:t>
            </a:r>
            <a:endParaRPr lang="en-US" sz="11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 •  Page Background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Borders &amp; Shading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1901952"/>
            <a:ext cx="1719072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" y="2011680"/>
            <a:ext cx="1591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Formatting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1901952"/>
            <a:ext cx="146304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32888" y="2011680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Background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→ Page Borders  |  Home → Paragraph → Shading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page border, open Design → Page Borders and select a border style.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the colour/width options available and apply to the required pages.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paragraph/cell shading, select the text or table cell.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Paragraph Shading and apply a fill colour.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border appears around the selected page area, and shading appears behind the selected text/cell.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a one-page notice a thin page border and shade its heading paragraph.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069848" y="6185916"/>
            <a:ext cx="10689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borders and paragraph/table shading are separate formatting operations.</a:t>
            </a:r>
            <a:endParaRPr lang="en-US" sz="11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987552"/>
            <a:ext cx="10881360" cy="416052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5240">
            <a:solidFill>
              <a:srgbClr val="D7DE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87552"/>
            <a:ext cx="146304" cy="4160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" y="1353312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13716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8745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Tables — create, modify &amp; calculate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761488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through the table features exactly as they appear when a table is selected.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97764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the Click Path → perform the steps → check the Expected Result.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24128" y="4709160"/>
            <a:ext cx="2468880" cy="292608"/>
          </a:xfrm>
          <a:prstGeom prst="roundRect">
            <a:avLst>
              <a:gd name="adj" fmla="val 25000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5568" y="4727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SELF-EXPLANATORY PRACTICAL GUIDE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652760" y="6080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 •  Tables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Creating a table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40864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→ Table → choose grid size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the cursor where the table should appear.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Insert → Table.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Drag across the grid to select rows and columns.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text into each cell.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table appears with the selected number of rows and columns.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4-column × 5-row student marks table.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69848" y="6215634"/>
            <a:ext cx="10689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selecting a table, Word displays Table Tools / Table Design and Layout controls.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TOOLS  •  Table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settings &amp; borders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1901952"/>
            <a:ext cx="1271016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" y="201168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Design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20824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84832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table → Table Design → Table Styles / Borders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anywhere inside the table.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Table Design / Table Tools.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table style if required.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Borders to add/remove borders for the selected cells or whole table.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table’s visual style and border lines change according to the selected settings.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a heading style to the first row and visible borders to the full table.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088136" y="6223472"/>
            <a:ext cx="10689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group names vary by Word version, but table formatting is available when the table is selected.</a:t>
            </a:r>
            <a:endParaRPr lang="en-US" sz="11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TOOLS  •  Layout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&amp; delete rows/columns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1901952"/>
            <a:ext cx="1271016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" y="201168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Design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20824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84832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Tools → Layout → Rows &amp; Columns → Insert / Delete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inside the row or column near the change you want.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Insert Above/Below or Insert Left/Right.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remove structure, use Delete → Rows / Columns / Table.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that the remaining data is still in the correct cells.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table grows or shrinks while preserving the remaining cell contents.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one column named “Grade” and one row for another student.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069848" y="6215494"/>
            <a:ext cx="10689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check which cell is active before using Delete.</a:t>
            </a:r>
            <a:endParaRPr lang="en-US" sz="11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TOOLS  •  Merge / Split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Merging &amp; splitting cells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4708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1109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cells → Table Tools → Layout → Merge Cells / Split Cells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two or more adjacent cells to merge.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Merge Cells.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split, select a single cell and choose Split Cells.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the number of rows/columns for the split and apply.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Merged cells become one cell; split cells become multiple cells.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 the top row across four columns to create a table title.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60728" y="6239100"/>
            <a:ext cx="10689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 Cells is commonly used for table headings.</a:t>
            </a:r>
            <a:endParaRPr lang="en-US" sz="11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TOOLS  •  Alignment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cell alignment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4708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1109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cell(s) → Table Tools → Layout → Alignment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the cells whose content needs alignment.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horizontal/vertical alignment from the Alignment group.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that the text sits where expected inside each cell.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 cell size if the content is crowded.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is positioned consistently within the selected cells.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 student roll numbers and marks, while left-aligning names.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97487" y="6203737"/>
            <a:ext cx="10689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alignment controls content position inside cells; paragraph alignment can also affect the text.</a:t>
            </a:r>
            <a:endParaRPr lang="en-US" sz="11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TOOLS  • 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Sorting table data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4708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1109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the table/data → Table Tools → Layout → Sort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inside the table or select the relevant data.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Sort.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column to sort by and the data type/order.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sort and inspect the resulting row order.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 are reordered according to the selected column and sort direction.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 a marks table by Marks from largest to smallest.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020214" y="6203743"/>
            <a:ext cx="10689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 header row marked as a header when Word offers that option.</a:t>
            </a:r>
            <a:endParaRPr lang="en-US" sz="11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TOOLS  •  Formula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a formula in a table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4708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1109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3580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9981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cursor in result cell → Table Tools → Layout → Formula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numeric table with values above the result cell.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the cursor in the cell where the result should appear.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Formula.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formula such as =SUM(ABOVE), then confirm.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calculates the formula and places the result in the selected cell.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20, 30 and 50 in three cells above a total cell; use =SUM(ABOVE) to calculate 100.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044966" y="6229350"/>
            <a:ext cx="10689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table formulas are simpler than spreadsheet formulas; recalculate when source values change.</a:t>
            </a:r>
            <a:endParaRPr lang="en-US" sz="11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987552"/>
            <a:ext cx="10881360" cy="416052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5240">
            <a:solidFill>
              <a:srgbClr val="D7DE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87552"/>
            <a:ext cx="146304" cy="4160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" y="1353312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13716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8745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Insert, Mail Merge &amp; Review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761488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visual content, generate personalized documents, check spelling and review changes.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97764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the Click Path → perform the steps → check the Expected Result.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24128" y="4709160"/>
            <a:ext cx="2468880" cy="292608"/>
          </a:xfrm>
          <a:prstGeom prst="roundRect">
            <a:avLst>
              <a:gd name="adj" fmla="val 25000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5568" y="4727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SELF-EXPLANATORY PRACTICAL GUIDE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652760" y="6080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 •  Illustrations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Inserting pictures, files &amp; Clip Art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40864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4708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1109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35808" y="1901952"/>
            <a:ext cx="1335024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99816" y="2011680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62272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26280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Symbols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→ Pictures / Object (or related insert command)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the cursor where the content should appear.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Insert and select Pictures for an image file.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file/object, use the appropriate Object or text/file insertion option available in your Word version.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Resize and position the inserted item as needed.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selected picture or file/object appears inside the document.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a college logo image above a notice heading and resize it proportionally.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071528" y="6226131"/>
            <a:ext cx="10689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 Art is available only in older Word versions; in newer versions, use Online Pictures/icons or another available illustration source.</a:t>
            </a:r>
            <a:endParaRPr lang="en-US" sz="11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  •  Mail Merge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Creating a Mail Merge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84064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47088" y="1901952"/>
            <a:ext cx="1527048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11096" y="2011680"/>
            <a:ext cx="1399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Mail Merge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65576" y="1901952"/>
            <a:ext cx="1847088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29584" y="2011680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&amp; Insert Fields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04104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68112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Finish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 → Start Mail Merge → Select Recipients → Insert Merge Field → Finish &amp; Merge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388620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the main document, such as a letter or notice.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4279392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31139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426110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Mail Merge and choose the document type.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77240" y="4654296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46863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61288" y="463600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or create a recipient list.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77240" y="502920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" y="50612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61288" y="501091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merge fields such as Name or Address where personalization is required.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77240" y="5404104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7240" y="543610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61288" y="5385816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the results, then Finish &amp; Merge to create/print the merged documents.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main document is combined with recipient data to produce personalized copies.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letter containing “Dear «Name&gt;” and merge it with a three-person list.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161288" y="6196086"/>
            <a:ext cx="10689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before finishing so field placement and names are correct.</a:t>
            </a:r>
            <a:endParaRPr lang="en-US" sz="11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 •  Proofing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Spell Check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25312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4708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1109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→ Spelling &amp; Grammar / Editor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Review tab.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spelling/grammar checker or Editor available in your version.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each flagged word or sentence.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 a suggested correction, ignore it, or add the word when appropriate.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Spelling/grammar issues are reviewed and the chosen corrections are applied.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“This is a goood document.” and use Spell Check to detect “goood”.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85521" y="6203733"/>
            <a:ext cx="10689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Spell Check suggestions are not always correct—read the full sentence before accepting a change.</a:t>
            </a:r>
            <a:endParaRPr lang="en-US" sz="11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 •  Tracking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 Changes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25312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4708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1109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3580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9981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2452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8853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1324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7725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75120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39128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→ Track Changes → edit the document → review Changes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on Track Changes.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Edit, insert or delete text as normal.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the markup that records the changes.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Accept or Reject to finalize each change or a set of changes.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Edits become visible as tracked changes until they are accepted or rejected.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on tracking, change “B.Tech” to “B.Tech.” and observe the recorded edit.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1010879" y="6203739"/>
            <a:ext cx="10689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 Changes records edits; it is useful when another person must review modifications.</a:t>
            </a:r>
            <a:endParaRPr lang="en-US" sz="11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43</a:t>
            </a:fld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987552"/>
            <a:ext cx="10881360" cy="416052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5240">
            <a:solidFill>
              <a:srgbClr val="D7DE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87552"/>
            <a:ext cx="146304" cy="416052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" y="1353312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13716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8745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Interface &amp; shortcuts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761488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ruler, toolbars, icons and keyboard shortcuts to perform common actions faster.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97764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the Click Path → perform the steps → check the Expected Result.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24128" y="4709160"/>
            <a:ext cx="2468880" cy="292608"/>
          </a:xfrm>
          <a:prstGeom prst="roundRect">
            <a:avLst>
              <a:gd name="adj" fmla="val 25000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5568" y="4727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SELF-EXPLANATORY PRACTICAL GUIDE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652760" y="6080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44</a:t>
            </a:fld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 •  Show / Interface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Ruler, toolbars &amp; icons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4708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1109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3580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9981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Zoom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2452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8853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→ Show → Ruler  |  Quick Access Toolbar / Ribbon icons for commands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94360" y="3383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" y="3520440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39364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388620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View and enable Ruler if it is hidden.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437311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435483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horizontal ruler to set indents and tab positions.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77240" y="48417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4873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61288" y="482346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common toolbar/Ribbon icons such as Save, Undo, Bold and Print.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77240" y="531037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" y="534238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61288" y="5292090"/>
            <a:ext cx="5852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Quick Access Toolbar for frequently repeated commands.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424928" y="3383280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24928" y="3383280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60780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607808" y="3813048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ruler becomes available for visual positioning, and toolbar/Ribbon icons provide quick access to common commands.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424928" y="4828032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89520" y="49560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7589520" y="519379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on the ruler and drag the left indent marker to change a paragraph’s start position.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069848" y="6217920"/>
            <a:ext cx="10689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Icon appearance can vary by Word version, but the command names and tooltips help identify them.</a:t>
            </a:r>
            <a:endParaRPr lang="en-US" sz="11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45</a:t>
            </a:fld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 •  Shortcut Keys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Essential MS Word shortcut keys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" y="1713660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" y="18782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1841676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keyboard shortcut directly when the cursor is in the document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2959297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" y="3096457"/>
            <a:ext cx="6227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PERFORM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3480505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512509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" y="3462217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Ctrl + O to open a file and Ctrl + S to save.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" y="3855409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3887413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61288" y="3837121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Ctrl + X / C / V for Cut / Copy / Paste.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7240" y="4230313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4262317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61288" y="4212025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Ctrl + Z / Y for Undo / Redo.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77240" y="4605217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4637221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61288" y="4586929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Ctrl + F to Find and Ctrl + H to Replace.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77240" y="4980121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012125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61288" y="4961833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Ctrl + B / I / U for Bold / Italic / Underline; Ctrl + P to print.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424928" y="2959297"/>
            <a:ext cx="4187952" cy="1325880"/>
          </a:xfrm>
          <a:prstGeom prst="roundRect">
            <a:avLst>
              <a:gd name="adj" fmla="val 8276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24928" y="2959297"/>
            <a:ext cx="5486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07808" y="3105601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607808" y="3389065"/>
            <a:ext cx="38221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commands execute immediately without navigating through the Ribbon.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424928" y="4404049"/>
            <a:ext cx="4187952" cy="1161288"/>
          </a:xfrm>
          <a:prstGeom prst="roundRect">
            <a:avLst>
              <a:gd name="adj" fmla="val 9449"/>
            </a:avLst>
          </a:prstGeom>
          <a:solidFill>
            <a:srgbClr val="F0EAFF"/>
          </a:solidFill>
          <a:ln w="12700">
            <a:solidFill>
              <a:srgbClr val="F0EA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89520" y="4532065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589520" y="4769809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 sentence → Ctrl + C → click elsewhere → Ctrl + V → Ctrl + Z.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69848" y="6224078"/>
            <a:ext cx="106893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Memorize shortcuts only after understanding the corresponding Ribbon command.</a:t>
            </a:r>
            <a:endParaRPr lang="en-US" sz="11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46</a:t>
            </a:fld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 •  Shortcut Keys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Essential MS Word shortcut keys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0352" y="1677253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" y="1786981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1750405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keyboard shortcut directly when the cursor is in the document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94360" y="6108192"/>
            <a:ext cx="11018520" cy="292608"/>
          </a:xfrm>
          <a:prstGeom prst="roundRect">
            <a:avLst>
              <a:gd name="adj" fmla="val 37500"/>
            </a:avLst>
          </a:prstGeom>
          <a:solidFill>
            <a:srgbClr val="F5F6F8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58952" y="6227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69848" y="6224078"/>
            <a:ext cx="106893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Memorize shortcuts only after understanding the corresponding Ribbon command.</a:t>
            </a:r>
            <a:endParaRPr lang="en-US" sz="11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47</a:t>
            </a:fld>
            <a:endParaRPr lang="en-US" dirty="0"/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578A349A-DBD3-4315-87FD-9E1B44446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969674"/>
              </p:ext>
            </p:extLst>
          </p:nvPr>
        </p:nvGraphicFramePr>
        <p:xfrm>
          <a:off x="819530" y="2684195"/>
          <a:ext cx="10552940" cy="2657989"/>
        </p:xfrm>
        <a:graphic>
          <a:graphicData uri="http://schemas.openxmlformats.org/drawingml/2006/table">
            <a:tbl>
              <a:tblPr/>
              <a:tblGrid>
                <a:gridCol w="2638235">
                  <a:extLst>
                    <a:ext uri="{9D8B030D-6E8A-4147-A177-3AD203B41FA5}">
                      <a16:colId xmlns:a16="http://schemas.microsoft.com/office/drawing/2014/main" val="2473360045"/>
                    </a:ext>
                  </a:extLst>
                </a:gridCol>
                <a:gridCol w="2638235">
                  <a:extLst>
                    <a:ext uri="{9D8B030D-6E8A-4147-A177-3AD203B41FA5}">
                      <a16:colId xmlns:a16="http://schemas.microsoft.com/office/drawing/2014/main" val="376006921"/>
                    </a:ext>
                  </a:extLst>
                </a:gridCol>
                <a:gridCol w="2638235">
                  <a:extLst>
                    <a:ext uri="{9D8B030D-6E8A-4147-A177-3AD203B41FA5}">
                      <a16:colId xmlns:a16="http://schemas.microsoft.com/office/drawing/2014/main" val="3582036753"/>
                    </a:ext>
                  </a:extLst>
                </a:gridCol>
                <a:gridCol w="2638235">
                  <a:extLst>
                    <a:ext uri="{9D8B030D-6E8A-4147-A177-3AD203B41FA5}">
                      <a16:colId xmlns:a16="http://schemas.microsoft.com/office/drawing/2014/main" val="4119215464"/>
                    </a:ext>
                  </a:extLst>
                </a:gridCol>
              </a:tblGrid>
              <a:tr h="291758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solidFill>
                            <a:schemeClr val="tx1"/>
                          </a:solidFill>
                          <a:effectLst/>
                        </a:rPr>
                        <a:t>Action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solidFill>
                            <a:schemeClr val="tx1"/>
                          </a:solidFill>
                          <a:effectLst/>
                        </a:rPr>
                        <a:t>Keys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solidFill>
                            <a:schemeClr val="tx1"/>
                          </a:solidFill>
                          <a:effectLst/>
                        </a:rPr>
                        <a:t>Action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solidFill>
                            <a:schemeClr val="tx1"/>
                          </a:solidFill>
                          <a:effectLst/>
                        </a:rPr>
                        <a:t>Keys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941134"/>
                  </a:ext>
                </a:extLst>
              </a:tr>
              <a:tr h="511424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Open / Save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Ctrl+O / Ctrl+S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Bold / Italic / Underline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Ctrl+B / Ctrl+I  /Ctrl+U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557954"/>
                  </a:ext>
                </a:extLst>
              </a:tr>
              <a:tr h="511424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Cut / Copy / Paste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Ctrl+X / Ctrl+C / Ctrl+V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Align left / centre / right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Ctrl+L / Ctrl+E / Ctrl+R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983409"/>
                  </a:ext>
                </a:extLst>
              </a:tr>
              <a:tr h="331804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Undo / Redo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Ctrl+Z / Ctrl+Y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Justify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Ctrl+J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681712"/>
                  </a:ext>
                </a:extLst>
              </a:tr>
              <a:tr h="364285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Find / Replace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Ctrl+F  / Ctrl+H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Select all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Ctrl+A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22614"/>
                  </a:ext>
                </a:extLst>
              </a:tr>
              <a:tr h="331804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Print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Ctrl+P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Change case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Shift+F3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669731"/>
                  </a:ext>
                </a:extLst>
              </a:tr>
              <a:tr h="291758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Spell check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F7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Page break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effectLst/>
                        </a:rPr>
                        <a:t>Ctrl+Enter</a:t>
                      </a:r>
                    </a:p>
                  </a:txBody>
                  <a:tcPr marL="75023" marR="75023" marT="37512" marB="37512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720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6916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 •  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 the full practical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109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99616" y="1389888"/>
            <a:ext cx="804672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99616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46304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6304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Clipboard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4708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1109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3580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9981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24528" y="1901952"/>
            <a:ext cx="1097280" cy="438912"/>
          </a:xfrm>
          <a:prstGeom prst="roundRect">
            <a:avLst>
              <a:gd name="adj" fmla="val 14583"/>
            </a:avLst>
          </a:prstGeom>
          <a:solidFill>
            <a:srgbClr val="EFF3F8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88536" y="2011680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2542032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7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PATH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709928" y="261518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→ Format → Insert → Table → Review → Save → Print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94360" y="3383280"/>
            <a:ext cx="1101852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35844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PRACTICE TASK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1248" y="397764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1248" y="400507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1225296" y="3968496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one-page notice and save it as a .docx file.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41248" y="437083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1248" y="439826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225296" y="4361688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title style; apply font size, colour, Bold and Center alignment.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41248" y="4764024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1248" y="479145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1225296" y="4754880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bulleted or numbered list and adjust indentation/line spacing.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41248" y="5157216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41248" y="518464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1225296" y="5148072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a 4 × 5 table; add/delete a row, merge heading cells, sort marks and calculate a total.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41248" y="555040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41248" y="557784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1225296" y="5541264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a picture, run Spell Check, turn on Track Changes, then Save As PDF and check Print Preview.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94360" y="6044184"/>
            <a:ext cx="11018520" cy="347472"/>
          </a:xfrm>
          <a:prstGeom prst="roundRect">
            <a:avLst>
              <a:gd name="adj" fmla="val 31579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" y="6044184"/>
            <a:ext cx="54864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7240" y="6190488"/>
            <a:ext cx="10671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673352" y="6144768"/>
            <a:ext cx="10652760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should be able to identify the Tab → Group, perform the feature without assistance, and verify the result on screen.</a:t>
            </a:r>
            <a:endParaRPr lang="en-US" sz="14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48</a:t>
            </a:fld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2"/>
          <p:cNvSpPr/>
          <p:nvPr/>
        </p:nvSpPr>
        <p:spPr>
          <a:xfrm>
            <a:off x="594360" y="6044184"/>
            <a:ext cx="11018520" cy="347472"/>
          </a:xfrm>
          <a:prstGeom prst="roundRect">
            <a:avLst>
              <a:gd name="adj" fmla="val 31579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" y="6044184"/>
            <a:ext cx="54864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7240" y="6190488"/>
            <a:ext cx="10671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673352" y="6144768"/>
            <a:ext cx="10652760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should be able to identify the Tab → Group, perform the feature without assistance, and verify the result on screen.</a:t>
            </a:r>
            <a:endParaRPr lang="en-US" sz="14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49</a:t>
            </a:fld>
            <a:endParaRPr lang="en-US" dirty="0"/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1541F72F-4910-879C-DD5E-DF2CF98AA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240909"/>
              </p:ext>
            </p:extLst>
          </p:nvPr>
        </p:nvGraphicFramePr>
        <p:xfrm>
          <a:off x="922020" y="2006271"/>
          <a:ext cx="9019031" cy="2845458"/>
        </p:xfrm>
        <a:graphic>
          <a:graphicData uri="http://schemas.openxmlformats.org/drawingml/2006/table">
            <a:tbl>
              <a:tblPr/>
              <a:tblGrid>
                <a:gridCol w="4952567">
                  <a:extLst>
                    <a:ext uri="{9D8B030D-6E8A-4147-A177-3AD203B41FA5}">
                      <a16:colId xmlns:a16="http://schemas.microsoft.com/office/drawing/2014/main" val="73888932"/>
                    </a:ext>
                  </a:extLst>
                </a:gridCol>
                <a:gridCol w="4066464">
                  <a:extLst>
                    <a:ext uri="{9D8B030D-6E8A-4147-A177-3AD203B41FA5}">
                      <a16:colId xmlns:a16="http://schemas.microsoft.com/office/drawing/2014/main" val="1901994954"/>
                    </a:ext>
                  </a:extLst>
                </a:gridCol>
              </a:tblGrid>
              <a:tr h="290917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</a:rPr>
                        <a:t>Action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</a:rPr>
                        <a:t>Keys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670087"/>
                  </a:ext>
                </a:extLst>
              </a:tr>
              <a:tr h="290917">
                <a:tc gridSpan="2"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rgbClr val="14213D"/>
                          </a:solidFill>
                          <a:effectLst/>
                        </a:rPr>
                        <a:t>File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79697173"/>
                  </a:ext>
                </a:extLst>
              </a:tr>
              <a:tr h="290917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New document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Ctrl+N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738379"/>
                  </a:ext>
                </a:extLst>
              </a:tr>
              <a:tr h="290917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Open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Ctrl+O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268197"/>
                  </a:ext>
                </a:extLst>
              </a:tr>
              <a:tr h="290917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Save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Ctrl+S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76352"/>
                  </a:ext>
                </a:extLst>
              </a:tr>
              <a:tr h="290917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Save As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F12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108426"/>
                  </a:ext>
                </a:extLst>
              </a:tr>
              <a:tr h="290917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Print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Ctrl+P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775079"/>
                  </a:ext>
                </a:extLst>
              </a:tr>
              <a:tr h="290917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Close document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Ctrl+W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025207"/>
                  </a:ext>
                </a:extLst>
              </a:tr>
              <a:tr h="290917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Exit Word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Alt+F4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383292"/>
                  </a:ext>
                </a:extLst>
              </a:tr>
            </a:tbl>
          </a:graphicData>
        </a:graphic>
      </p:graphicFrame>
      <p:sp>
        <p:nvSpPr>
          <p:cNvPr id="64" name="Text 0">
            <a:extLst>
              <a:ext uri="{FF2B5EF4-FFF2-40B4-BE49-F238E27FC236}">
                <a16:creationId xmlns:a16="http://schemas.microsoft.com/office/drawing/2014/main" id="{090E4E1A-1636-C20F-83BB-726A55B326CA}"/>
              </a:ext>
            </a:extLst>
          </p:cNvPr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 •  Shortcut Keys</a:t>
            </a:r>
            <a:endParaRPr lang="en-US" sz="1100" dirty="0"/>
          </a:p>
        </p:txBody>
      </p:sp>
      <p:sp>
        <p:nvSpPr>
          <p:cNvPr id="65" name="Text 1">
            <a:extLst>
              <a:ext uri="{FF2B5EF4-FFF2-40B4-BE49-F238E27FC236}">
                <a16:creationId xmlns:a16="http://schemas.microsoft.com/office/drawing/2014/main" id="{44073ACA-47EC-BC8A-07ED-9A776432781C}"/>
              </a:ext>
            </a:extLst>
          </p:cNvPr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Essential MS Word shortcut keys</a:t>
            </a:r>
            <a:endParaRPr lang="en-US" sz="2700" dirty="0"/>
          </a:p>
        </p:txBody>
      </p:sp>
      <p:sp>
        <p:nvSpPr>
          <p:cNvPr id="66" name="Shape 2">
            <a:extLst>
              <a:ext uri="{FF2B5EF4-FFF2-40B4-BE49-F238E27FC236}">
                <a16:creationId xmlns:a16="http://schemas.microsoft.com/office/drawing/2014/main" id="{70742AEF-1726-92DD-235A-CC9714DE856D}"/>
              </a:ext>
            </a:extLst>
          </p:cNvPr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7" name="Text 3">
            <a:extLst>
              <a:ext uri="{FF2B5EF4-FFF2-40B4-BE49-F238E27FC236}">
                <a16:creationId xmlns:a16="http://schemas.microsoft.com/office/drawing/2014/main" id="{F8FFC990-C4D2-F12D-13C9-6DC42B104734}"/>
              </a:ext>
            </a:extLst>
          </p:cNvPr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127894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2"/>
          <p:cNvSpPr/>
          <p:nvPr/>
        </p:nvSpPr>
        <p:spPr>
          <a:xfrm>
            <a:off x="594360" y="6044184"/>
            <a:ext cx="11018520" cy="347472"/>
          </a:xfrm>
          <a:prstGeom prst="roundRect">
            <a:avLst>
              <a:gd name="adj" fmla="val 31579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" y="6044184"/>
            <a:ext cx="54864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7240" y="6190488"/>
            <a:ext cx="10671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673352" y="6144768"/>
            <a:ext cx="10652760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should be able to identify the Tab → Group, perform the feature without assistance, and verify the result on screen.</a:t>
            </a:r>
            <a:endParaRPr lang="en-US" sz="14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50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E2BD86-CB51-9E0B-E0D3-662C8146F0E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9045716" cy="3793944"/>
        </p:xfrm>
        <a:graphic>
          <a:graphicData uri="http://schemas.openxmlformats.org/drawingml/2006/table">
            <a:tbl>
              <a:tblPr/>
              <a:tblGrid>
                <a:gridCol w="4979252">
                  <a:extLst>
                    <a:ext uri="{9D8B030D-6E8A-4147-A177-3AD203B41FA5}">
                      <a16:colId xmlns:a16="http://schemas.microsoft.com/office/drawing/2014/main" val="3221084739"/>
                    </a:ext>
                  </a:extLst>
                </a:gridCol>
                <a:gridCol w="4066464">
                  <a:extLst>
                    <a:ext uri="{9D8B030D-6E8A-4147-A177-3AD203B41FA5}">
                      <a16:colId xmlns:a16="http://schemas.microsoft.com/office/drawing/2014/main" val="1715681756"/>
                    </a:ext>
                  </a:extLst>
                </a:gridCol>
              </a:tblGrid>
              <a:tr h="78662">
                <a:tc gridSpan="2"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rgbClr val="14213D"/>
                          </a:solidFill>
                          <a:effectLst/>
                        </a:rPr>
                        <a:t>Editing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808338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Cut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Ctrl+X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321633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Copy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Ctrl+C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851441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Paste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Ctrl+V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280780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Undo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Ctrl+Z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687141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Redo / Repeat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Ctrl+Y or F4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502458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Select all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Ctrl+A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169576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Find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Ctrl+F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0026661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Replace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Ctrl+H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431574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Go To page/line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Ctrl+G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818202"/>
                  </a:ext>
                </a:extLst>
              </a:tr>
              <a:tr h="7952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</a:rPr>
                        <a:t>Delete word to the left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Ctrl+Backspace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860460"/>
                  </a:ext>
                </a:extLst>
              </a:tr>
              <a:tr h="79528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</a:rPr>
                        <a:t>Delete word to the right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Ctrl+Delete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60757"/>
                  </a:ext>
                </a:extLst>
              </a:tr>
            </a:tbl>
          </a:graphicData>
        </a:graphic>
      </p:graphicFrame>
      <p:sp>
        <p:nvSpPr>
          <p:cNvPr id="7" name="Text 0">
            <a:extLst>
              <a:ext uri="{FF2B5EF4-FFF2-40B4-BE49-F238E27FC236}">
                <a16:creationId xmlns:a16="http://schemas.microsoft.com/office/drawing/2014/main" id="{4C485D60-269C-16A7-1D12-148B576114BC}"/>
              </a:ext>
            </a:extLst>
          </p:cNvPr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 •  Shortcut Keys</a:t>
            </a:r>
            <a:endParaRPr lang="en-US" sz="11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2AB87A1-54C9-40AB-FA58-E036EEC93011}"/>
              </a:ext>
            </a:extLst>
          </p:cNvPr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Essential MS Word shortcut keys</a:t>
            </a:r>
            <a:endParaRPr lang="en-US" sz="27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2A4A49A8-A5C4-16EA-4BDE-F30BC908FF6A}"/>
              </a:ext>
            </a:extLst>
          </p:cNvPr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A5E1D38C-5DA3-D272-00F1-DE1DFD2A0CE6}"/>
              </a:ext>
            </a:extLst>
          </p:cNvPr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729135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2"/>
          <p:cNvSpPr/>
          <p:nvPr/>
        </p:nvSpPr>
        <p:spPr>
          <a:xfrm>
            <a:off x="594360" y="6044184"/>
            <a:ext cx="11018520" cy="347472"/>
          </a:xfrm>
          <a:prstGeom prst="roundRect">
            <a:avLst>
              <a:gd name="adj" fmla="val 31579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" y="6044184"/>
            <a:ext cx="54864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7240" y="6190488"/>
            <a:ext cx="10671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673352" y="6144768"/>
            <a:ext cx="10652760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should be able to identify the Tab → Group, perform the feature without assistance, and verify the result on screen.</a:t>
            </a:r>
            <a:endParaRPr lang="en-US" sz="14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51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0C128BD-2048-0073-811D-D0C79BB6B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038396"/>
              </p:ext>
            </p:extLst>
          </p:nvPr>
        </p:nvGraphicFramePr>
        <p:xfrm>
          <a:off x="838200" y="1570672"/>
          <a:ext cx="9045716" cy="4426268"/>
        </p:xfrm>
        <a:graphic>
          <a:graphicData uri="http://schemas.openxmlformats.org/drawingml/2006/table">
            <a:tbl>
              <a:tblPr/>
              <a:tblGrid>
                <a:gridCol w="4979252">
                  <a:extLst>
                    <a:ext uri="{9D8B030D-6E8A-4147-A177-3AD203B41FA5}">
                      <a16:colId xmlns:a16="http://schemas.microsoft.com/office/drawing/2014/main" val="3882204019"/>
                    </a:ext>
                  </a:extLst>
                </a:gridCol>
                <a:gridCol w="4066464">
                  <a:extLst>
                    <a:ext uri="{9D8B030D-6E8A-4147-A177-3AD203B41FA5}">
                      <a16:colId xmlns:a16="http://schemas.microsoft.com/office/drawing/2014/main" val="1686388927"/>
                    </a:ext>
                  </a:extLst>
                </a:gridCol>
              </a:tblGrid>
              <a:tr h="45445">
                <a:tc gridSpan="2"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rgbClr val="14213D"/>
                          </a:solidFill>
                          <a:effectLst/>
                        </a:rPr>
                        <a:t>Font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62901106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Bold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Ctrl+B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599607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Italic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Ctrl+I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259123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Underline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Ctrl+U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15264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Increase font size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Ctrl+Shift+&gt;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3124274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Decrease font size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Ctrl+Shift+&lt;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363238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Change case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Shift+F3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691310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All caps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Ctrl+Shift+A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7774257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Subscript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Ctrl+=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879913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Superscript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Ctrl+Shift</a:t>
                      </a:r>
                      <a:r>
                        <a:rPr lang="en-IN" sz="2000" dirty="0">
                          <a:effectLst/>
                        </a:rPr>
                        <a:t>+=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146886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Font dialog box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Ctrl+D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744944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Copy formatting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Ctrl+Shift+C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223301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Paste formatting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Ctrl+Shift+V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43321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Clear formatting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Ctrl+Space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06139"/>
                  </a:ext>
                </a:extLst>
              </a:tr>
            </a:tbl>
          </a:graphicData>
        </a:graphic>
      </p:graphicFrame>
      <p:sp>
        <p:nvSpPr>
          <p:cNvPr id="8" name="Text 0">
            <a:extLst>
              <a:ext uri="{FF2B5EF4-FFF2-40B4-BE49-F238E27FC236}">
                <a16:creationId xmlns:a16="http://schemas.microsoft.com/office/drawing/2014/main" id="{625D88F4-5CAD-D6A5-3FB2-C6E9D63E9BC3}"/>
              </a:ext>
            </a:extLst>
          </p:cNvPr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 •  Shortcut Keys</a:t>
            </a:r>
            <a:endParaRPr lang="en-US" sz="11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775780AC-FEEF-4E9C-1373-B34CED8CDD8B}"/>
              </a:ext>
            </a:extLst>
          </p:cNvPr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Essential MS Word shortcut keys</a:t>
            </a:r>
            <a:endParaRPr lang="en-US" sz="27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3667563D-D298-BCB2-0008-982E201EFD45}"/>
              </a:ext>
            </a:extLst>
          </p:cNvPr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16F684C1-1C72-148E-A07E-97EB9DFFF7D5}"/>
              </a:ext>
            </a:extLst>
          </p:cNvPr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893612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2"/>
          <p:cNvSpPr/>
          <p:nvPr/>
        </p:nvSpPr>
        <p:spPr>
          <a:xfrm>
            <a:off x="594360" y="6044184"/>
            <a:ext cx="11018520" cy="347472"/>
          </a:xfrm>
          <a:prstGeom prst="roundRect">
            <a:avLst>
              <a:gd name="adj" fmla="val 31579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" y="6044184"/>
            <a:ext cx="54864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7240" y="6190488"/>
            <a:ext cx="10671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673352" y="6144768"/>
            <a:ext cx="10652760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should be able to identify the Tab → Group, perform the feature without assistance, and verify the result on screen.</a:t>
            </a:r>
            <a:endParaRPr lang="en-US" sz="14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52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2E7AB1-F6C6-120E-25EB-29D202928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344562"/>
              </p:ext>
            </p:extLst>
          </p:nvPr>
        </p:nvGraphicFramePr>
        <p:xfrm>
          <a:off x="649224" y="1597975"/>
          <a:ext cx="9045716" cy="4110106"/>
        </p:xfrm>
        <a:graphic>
          <a:graphicData uri="http://schemas.openxmlformats.org/drawingml/2006/table">
            <a:tbl>
              <a:tblPr/>
              <a:tblGrid>
                <a:gridCol w="4979252">
                  <a:extLst>
                    <a:ext uri="{9D8B030D-6E8A-4147-A177-3AD203B41FA5}">
                      <a16:colId xmlns:a16="http://schemas.microsoft.com/office/drawing/2014/main" val="3561468971"/>
                    </a:ext>
                  </a:extLst>
                </a:gridCol>
                <a:gridCol w="4066464">
                  <a:extLst>
                    <a:ext uri="{9D8B030D-6E8A-4147-A177-3AD203B41FA5}">
                      <a16:colId xmlns:a16="http://schemas.microsoft.com/office/drawing/2014/main" val="4011177257"/>
                    </a:ext>
                  </a:extLst>
                </a:gridCol>
              </a:tblGrid>
              <a:tr h="45445">
                <a:tc gridSpan="2"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rgbClr val="14213D"/>
                          </a:solidFill>
                          <a:effectLst/>
                        </a:rPr>
                        <a:t>Paragraph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95970973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Align left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Ctrl+L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523100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Centre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Ctrl+E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688927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Align right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Ctrl+R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175676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Justify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Ctrl+J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35856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Indent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Ctrl+M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086309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Remove indent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Ctrl+Shift+M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532682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Hanging indent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636714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Single line spacing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Ctrl+1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138647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1.5 line spacing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Ctrl+5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542436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Double line spacing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Ctrl+2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471055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Bulleted list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Ctrl+Shift+L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028732"/>
                  </a:ext>
                </a:extLst>
              </a:tr>
              <a:tr h="7952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</a:rPr>
                        <a:t>Apply Heading 1 / 2 / 3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n-NO" sz="2000" dirty="0">
                          <a:effectLst/>
                        </a:rPr>
                        <a:t>Ctrl+Alt+1 / 2 / 3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449977"/>
                  </a:ext>
                </a:extLst>
              </a:tr>
            </a:tbl>
          </a:graphicData>
        </a:graphic>
      </p:graphicFrame>
      <p:sp>
        <p:nvSpPr>
          <p:cNvPr id="8" name="Text 0">
            <a:extLst>
              <a:ext uri="{FF2B5EF4-FFF2-40B4-BE49-F238E27FC236}">
                <a16:creationId xmlns:a16="http://schemas.microsoft.com/office/drawing/2014/main" id="{EC5975D1-7F20-2807-64A2-A0233A6C45E2}"/>
              </a:ext>
            </a:extLst>
          </p:cNvPr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 •  Shortcut Keys</a:t>
            </a:r>
            <a:endParaRPr lang="en-US" sz="11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E82E73A9-0C80-3161-632A-0BA7C04D9D21}"/>
              </a:ext>
            </a:extLst>
          </p:cNvPr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Essential MS Word shortcut keys</a:t>
            </a:r>
            <a:endParaRPr lang="en-US" sz="27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12E4DBFE-1E5C-1B1F-8A6E-74D63A8FAC68}"/>
              </a:ext>
            </a:extLst>
          </p:cNvPr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6E94D3CD-24FE-C742-B050-41017BC12C26}"/>
              </a:ext>
            </a:extLst>
          </p:cNvPr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347369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2"/>
          <p:cNvSpPr/>
          <p:nvPr/>
        </p:nvSpPr>
        <p:spPr>
          <a:xfrm>
            <a:off x="594360" y="6044184"/>
            <a:ext cx="11018520" cy="347472"/>
          </a:xfrm>
          <a:prstGeom prst="roundRect">
            <a:avLst>
              <a:gd name="adj" fmla="val 31579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" y="6044184"/>
            <a:ext cx="54864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7240" y="6190488"/>
            <a:ext cx="10671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673352" y="6144768"/>
            <a:ext cx="10652760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should be able to identify the Tab → Group, perform the feature without assistance, and verify the result on screen.</a:t>
            </a:r>
            <a:endParaRPr lang="en-US" sz="14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53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F688E7D-AA9D-FEAB-6325-C7908C3E2F1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9045716" cy="2845458"/>
        </p:xfrm>
        <a:graphic>
          <a:graphicData uri="http://schemas.openxmlformats.org/drawingml/2006/table">
            <a:tbl>
              <a:tblPr/>
              <a:tblGrid>
                <a:gridCol w="4979252">
                  <a:extLst>
                    <a:ext uri="{9D8B030D-6E8A-4147-A177-3AD203B41FA5}">
                      <a16:colId xmlns:a16="http://schemas.microsoft.com/office/drawing/2014/main" val="2614828931"/>
                    </a:ext>
                  </a:extLst>
                </a:gridCol>
                <a:gridCol w="4066464">
                  <a:extLst>
                    <a:ext uri="{9D8B030D-6E8A-4147-A177-3AD203B41FA5}">
                      <a16:colId xmlns:a16="http://schemas.microsoft.com/office/drawing/2014/main" val="591342289"/>
                    </a:ext>
                  </a:extLst>
                </a:gridCol>
              </a:tblGrid>
              <a:tr h="45445">
                <a:tc gridSpan="2"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rgbClr val="14213D"/>
                          </a:solidFill>
                          <a:effectLst/>
                        </a:rPr>
                        <a:t>Insert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04649150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Page break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Ctrl+Enter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668216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Line break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Shift+Enter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0782128"/>
                  </a:ext>
                </a:extLst>
              </a:tr>
              <a:tr h="79528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Column break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Ctrl+Shift+Enter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150863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Hyperlink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Ctrl+K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46129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Insert date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Alt+Shift+D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612581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Copyright symbol ©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Ctrl+Alt+C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249069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Footnote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Ctrl+Alt+F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105913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Insert comment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Ctrl+Alt+M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718209"/>
                  </a:ext>
                </a:extLst>
              </a:tr>
            </a:tbl>
          </a:graphicData>
        </a:graphic>
      </p:graphicFrame>
      <p:sp>
        <p:nvSpPr>
          <p:cNvPr id="8" name="Text 0">
            <a:extLst>
              <a:ext uri="{FF2B5EF4-FFF2-40B4-BE49-F238E27FC236}">
                <a16:creationId xmlns:a16="http://schemas.microsoft.com/office/drawing/2014/main" id="{972C734A-59F2-1EAC-2E2D-285585156044}"/>
              </a:ext>
            </a:extLst>
          </p:cNvPr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 •  Shortcut Keys</a:t>
            </a:r>
            <a:endParaRPr lang="en-US" sz="11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5F835A21-6BBD-757D-924F-4AE409B39CE7}"/>
              </a:ext>
            </a:extLst>
          </p:cNvPr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Essential MS Word shortcut keys</a:t>
            </a:r>
            <a:endParaRPr lang="en-US" sz="27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D87A8874-211C-EF69-F4D9-F1E9213DD1E7}"/>
              </a:ext>
            </a:extLst>
          </p:cNvPr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92137A5-BF65-6A8A-A0BF-4DF92FE99AC6}"/>
              </a:ext>
            </a:extLst>
          </p:cNvPr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933811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2"/>
          <p:cNvSpPr/>
          <p:nvPr/>
        </p:nvSpPr>
        <p:spPr>
          <a:xfrm>
            <a:off x="594360" y="6044184"/>
            <a:ext cx="11018520" cy="347472"/>
          </a:xfrm>
          <a:prstGeom prst="roundRect">
            <a:avLst>
              <a:gd name="adj" fmla="val 31579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" y="6044184"/>
            <a:ext cx="54864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7240" y="6190488"/>
            <a:ext cx="10671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673352" y="6144768"/>
            <a:ext cx="10652760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should be able to identify the Tab → Group, perform the feature without assistance, and verify the result on screen.</a:t>
            </a:r>
            <a:endParaRPr lang="en-US" sz="14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54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C67290-A636-D681-8293-E2631EB7CE0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9045716" cy="3161620"/>
        </p:xfrm>
        <a:graphic>
          <a:graphicData uri="http://schemas.openxmlformats.org/drawingml/2006/table">
            <a:tbl>
              <a:tblPr/>
              <a:tblGrid>
                <a:gridCol w="4979252">
                  <a:extLst>
                    <a:ext uri="{9D8B030D-6E8A-4147-A177-3AD203B41FA5}">
                      <a16:colId xmlns:a16="http://schemas.microsoft.com/office/drawing/2014/main" val="4282008197"/>
                    </a:ext>
                  </a:extLst>
                </a:gridCol>
                <a:gridCol w="4066464">
                  <a:extLst>
                    <a:ext uri="{9D8B030D-6E8A-4147-A177-3AD203B41FA5}">
                      <a16:colId xmlns:a16="http://schemas.microsoft.com/office/drawing/2014/main" val="2051939798"/>
                    </a:ext>
                  </a:extLst>
                </a:gridCol>
              </a:tblGrid>
              <a:tr h="45445">
                <a:tc gridSpan="2"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rgbClr val="14213D"/>
                          </a:solidFill>
                          <a:effectLst/>
                        </a:rPr>
                        <a:t>Navigate and select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6666174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Start / end of line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Home / End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229841"/>
                  </a:ext>
                </a:extLst>
              </a:tr>
              <a:tr h="79528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Start / end of document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Ctrl+Home / Ctrl+End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3364990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Move one word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Ctrl+Left</a:t>
                      </a:r>
                      <a:r>
                        <a:rPr lang="en-IN" sz="2000" dirty="0">
                          <a:effectLst/>
                        </a:rPr>
                        <a:t> / Right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34438"/>
                  </a:ext>
                </a:extLst>
              </a:tr>
              <a:tr h="79528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Previous / next paragraph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Ctrl+Up / Down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567508"/>
                  </a:ext>
                </a:extLst>
              </a:tr>
              <a:tr h="79528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Select a word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Ctrl+Shift+Left / Right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848038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</a:rPr>
                        <a:t>Select to end of line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Shift+End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646166"/>
                  </a:ext>
                </a:extLst>
              </a:tr>
              <a:tr h="5631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Select a whole line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Shift+Down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194694"/>
                  </a:ext>
                </a:extLst>
              </a:tr>
              <a:tr h="79528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Select whole document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Ctrl+A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769107"/>
                  </a:ext>
                </a:extLst>
              </a:tr>
              <a:tr h="79528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Next page / previous page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Page Down / Page Up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244138"/>
                  </a:ext>
                </a:extLst>
              </a:tr>
            </a:tbl>
          </a:graphicData>
        </a:graphic>
      </p:graphicFrame>
      <p:sp>
        <p:nvSpPr>
          <p:cNvPr id="7" name="Text 0">
            <a:extLst>
              <a:ext uri="{FF2B5EF4-FFF2-40B4-BE49-F238E27FC236}">
                <a16:creationId xmlns:a16="http://schemas.microsoft.com/office/drawing/2014/main" id="{56D81BB1-3DCB-EE45-A939-2B112D0ABF03}"/>
              </a:ext>
            </a:extLst>
          </p:cNvPr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 •  Shortcut Keys</a:t>
            </a:r>
            <a:endParaRPr lang="en-US" sz="11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99484343-B466-8632-3795-FA12EFBE1139}"/>
              </a:ext>
            </a:extLst>
          </p:cNvPr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Essential MS Word shortcut keys</a:t>
            </a:r>
            <a:endParaRPr lang="en-US" sz="27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F62336CC-CD00-A6D4-F51C-7342DEDAFE69}"/>
              </a:ext>
            </a:extLst>
          </p:cNvPr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0BDE39B8-6746-1EEE-BF5B-1A21896D64F8}"/>
              </a:ext>
            </a:extLst>
          </p:cNvPr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990208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2"/>
          <p:cNvSpPr/>
          <p:nvPr/>
        </p:nvSpPr>
        <p:spPr>
          <a:xfrm>
            <a:off x="594360" y="6044184"/>
            <a:ext cx="11018520" cy="347472"/>
          </a:xfrm>
          <a:prstGeom prst="roundRect">
            <a:avLst>
              <a:gd name="adj" fmla="val 31579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" y="6044184"/>
            <a:ext cx="54864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7240" y="6190488"/>
            <a:ext cx="10671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673352" y="6144768"/>
            <a:ext cx="10652760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should be able to identify the Tab → Group, perform the feature without assistance, and verify the result on screen.</a:t>
            </a:r>
            <a:endParaRPr lang="en-US" sz="14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55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4A2168A-2A46-C32F-6A98-BCB6DE1FB5A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9045716" cy="1896972"/>
        </p:xfrm>
        <a:graphic>
          <a:graphicData uri="http://schemas.openxmlformats.org/drawingml/2006/table">
            <a:tbl>
              <a:tblPr/>
              <a:tblGrid>
                <a:gridCol w="4979252">
                  <a:extLst>
                    <a:ext uri="{9D8B030D-6E8A-4147-A177-3AD203B41FA5}">
                      <a16:colId xmlns:a16="http://schemas.microsoft.com/office/drawing/2014/main" val="2149461236"/>
                    </a:ext>
                  </a:extLst>
                </a:gridCol>
                <a:gridCol w="4066464">
                  <a:extLst>
                    <a:ext uri="{9D8B030D-6E8A-4147-A177-3AD203B41FA5}">
                      <a16:colId xmlns:a16="http://schemas.microsoft.com/office/drawing/2014/main" val="815866864"/>
                    </a:ext>
                  </a:extLst>
                </a:gridCol>
              </a:tblGrid>
              <a:tr h="45445">
                <a:tc gridSpan="2"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rgbClr val="14213D"/>
                          </a:solidFill>
                          <a:effectLst/>
                        </a:rPr>
                        <a:t>Tables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00385364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Next cell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Tab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878951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Previous cell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Shift+Tab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089518"/>
                  </a:ext>
                </a:extLst>
              </a:tr>
              <a:tr h="79528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</a:rPr>
                        <a:t>New row at table end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Tab in last cell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525547"/>
                  </a:ext>
                </a:extLst>
              </a:tr>
              <a:tr h="79528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Insert tab inside a cell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Ctrl+Tab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518522"/>
                  </a:ext>
                </a:extLst>
              </a:tr>
              <a:tr h="79528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Select whole table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Alt+5 (</a:t>
                      </a:r>
                      <a:r>
                        <a:rPr lang="en-IN" sz="2000" dirty="0" err="1">
                          <a:effectLst/>
                        </a:rPr>
                        <a:t>NumLock</a:t>
                      </a:r>
                      <a:r>
                        <a:rPr lang="en-IN" sz="2000" dirty="0">
                          <a:effectLst/>
                        </a:rPr>
                        <a:t> off)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422363"/>
                  </a:ext>
                </a:extLst>
              </a:tr>
            </a:tbl>
          </a:graphicData>
        </a:graphic>
      </p:graphicFrame>
      <p:sp>
        <p:nvSpPr>
          <p:cNvPr id="7" name="Text 0">
            <a:extLst>
              <a:ext uri="{FF2B5EF4-FFF2-40B4-BE49-F238E27FC236}">
                <a16:creationId xmlns:a16="http://schemas.microsoft.com/office/drawing/2014/main" id="{AC9886C8-AF5E-5753-E940-959DD2A44BF2}"/>
              </a:ext>
            </a:extLst>
          </p:cNvPr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 •  Shortcut Keys</a:t>
            </a:r>
            <a:endParaRPr lang="en-US" sz="11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67450303-65E7-B13D-FEDF-A1A3DDB44A66}"/>
              </a:ext>
            </a:extLst>
          </p:cNvPr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Essential MS Word shortcut keys</a:t>
            </a:r>
            <a:endParaRPr lang="en-US" sz="27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905A352D-1A02-238E-4F14-99B9CD200C81}"/>
              </a:ext>
            </a:extLst>
          </p:cNvPr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27C17BAC-5849-1394-221E-D125174FFD8D}"/>
              </a:ext>
            </a:extLst>
          </p:cNvPr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926873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2"/>
          <p:cNvSpPr/>
          <p:nvPr/>
        </p:nvSpPr>
        <p:spPr>
          <a:xfrm>
            <a:off x="594360" y="6044184"/>
            <a:ext cx="11018520" cy="347472"/>
          </a:xfrm>
          <a:prstGeom prst="roundRect">
            <a:avLst>
              <a:gd name="adj" fmla="val 31579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" y="6044184"/>
            <a:ext cx="54864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7240" y="6190488"/>
            <a:ext cx="10671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673352" y="6144768"/>
            <a:ext cx="10652760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should be able to identify the Tab → Group, perform the feature without assistance, and verify the result on screen.</a:t>
            </a:r>
            <a:endParaRPr lang="en-US" sz="14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56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C6C1E7-0590-2429-908E-05A27DEF513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9045716" cy="3161620"/>
        </p:xfrm>
        <a:graphic>
          <a:graphicData uri="http://schemas.openxmlformats.org/drawingml/2006/table">
            <a:tbl>
              <a:tblPr/>
              <a:tblGrid>
                <a:gridCol w="4979252">
                  <a:extLst>
                    <a:ext uri="{9D8B030D-6E8A-4147-A177-3AD203B41FA5}">
                      <a16:colId xmlns:a16="http://schemas.microsoft.com/office/drawing/2014/main" val="3305578661"/>
                    </a:ext>
                  </a:extLst>
                </a:gridCol>
                <a:gridCol w="4066464">
                  <a:extLst>
                    <a:ext uri="{9D8B030D-6E8A-4147-A177-3AD203B41FA5}">
                      <a16:colId xmlns:a16="http://schemas.microsoft.com/office/drawing/2014/main" val="1339749071"/>
                    </a:ext>
                  </a:extLst>
                </a:gridCol>
              </a:tblGrid>
              <a:tr h="45445">
                <a:tc gridSpan="2">
                  <a:txBody>
                    <a:bodyPr/>
                    <a:lstStyle/>
                    <a:p>
                      <a:pPr algn="l"/>
                      <a:r>
                        <a:rPr lang="en-IN" sz="2000" b="1">
                          <a:solidFill>
                            <a:srgbClr val="14213D"/>
                          </a:solidFill>
                          <a:effectLst/>
                        </a:rPr>
                        <a:t>Review, tools and help</a:t>
                      </a:r>
                      <a:endParaRPr lang="en-IN" sz="2000" b="1" dirty="0">
                        <a:solidFill>
                          <a:srgbClr val="14213D"/>
                        </a:solidFill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87620385"/>
                  </a:ext>
                </a:extLst>
              </a:tr>
              <a:tr h="79528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Spelling and grammar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F7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066485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Thesaurus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Shift+F7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891632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Word count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Ctrl+Shift+G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000167"/>
                  </a:ext>
                </a:extLst>
              </a:tr>
              <a:tr h="79528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Track Changes on/off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Ctrl+Shift+E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0060319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Help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F1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645056"/>
                  </a:ext>
                </a:extLst>
              </a:tr>
              <a:tr h="7952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</a:rPr>
                        <a:t>Update fields / mail merge preview</a:t>
                      </a:r>
                      <a:endParaRPr lang="en-US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F9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716406"/>
                  </a:ext>
                </a:extLst>
              </a:tr>
              <a:tr h="45445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Print preview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Ctrl+F2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519659"/>
                  </a:ext>
                </a:extLst>
              </a:tr>
              <a:tr h="7952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</a:rPr>
                        <a:t>Switch view to Print Layout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Ctrl+Alt+P</a:t>
                      </a:r>
                      <a:endParaRPr lang="en-IN" sz="2000" dirty="0">
                        <a:effectLst/>
                      </a:endParaRP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686274"/>
                  </a:ext>
                </a:extLst>
              </a:tr>
              <a:tr h="79528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Zoom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 err="1">
                          <a:effectLst/>
                        </a:rPr>
                        <a:t>Ctrl+Mouse</a:t>
                      </a:r>
                      <a:r>
                        <a:rPr lang="en-IN" sz="2000" dirty="0">
                          <a:effectLst/>
                        </a:rPr>
                        <a:t> wheel</a:t>
                      </a:r>
                    </a:p>
                  </a:txBody>
                  <a:tcPr marL="11361" marR="11361" marT="5681" marB="5681" anchor="ctr">
                    <a:lnL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B38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00473"/>
                  </a:ext>
                </a:extLst>
              </a:tr>
            </a:tbl>
          </a:graphicData>
        </a:graphic>
      </p:graphicFrame>
      <p:sp>
        <p:nvSpPr>
          <p:cNvPr id="7" name="Text 0">
            <a:extLst>
              <a:ext uri="{FF2B5EF4-FFF2-40B4-BE49-F238E27FC236}">
                <a16:creationId xmlns:a16="http://schemas.microsoft.com/office/drawing/2014/main" id="{DAF72A2C-E2BD-6C95-B318-D7F0BEB06D25}"/>
              </a:ext>
            </a:extLst>
          </p:cNvPr>
          <p:cNvSpPr txBox="1"/>
          <p:nvPr/>
        </p:nvSpPr>
        <p:spPr>
          <a:xfrm>
            <a:off x="594360" y="347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7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 •  Shortcut Keys</a:t>
            </a:r>
            <a:endParaRPr lang="en-US" sz="11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1B46B11B-6F30-AEF4-E3BD-C5F238AB6CCE}"/>
              </a:ext>
            </a:extLst>
          </p:cNvPr>
          <p:cNvSpPr txBox="1"/>
          <p:nvPr/>
        </p:nvSpPr>
        <p:spPr>
          <a:xfrm>
            <a:off x="5943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Essential MS Word shortcut keys</a:t>
            </a:r>
            <a:endParaRPr lang="en-US" sz="27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5337473D-2D82-BAC1-E95A-65D689F27AA2}"/>
              </a:ext>
            </a:extLst>
          </p:cNvPr>
          <p:cNvSpPr/>
          <p:nvPr/>
        </p:nvSpPr>
        <p:spPr>
          <a:xfrm>
            <a:off x="10561320" y="38404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90B4C645-E642-19EC-819D-509A716281BA}"/>
              </a:ext>
            </a:extLst>
          </p:cNvPr>
          <p:cNvSpPr txBox="1"/>
          <p:nvPr/>
        </p:nvSpPr>
        <p:spPr>
          <a:xfrm>
            <a:off x="10652760" y="4023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7253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6452</Words>
  <Application>Microsoft Office PowerPoint</Application>
  <PresentationFormat>Widescreen</PresentationFormat>
  <Paragraphs>1586</Paragraphs>
  <Slides>56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Aptos</vt:lpstr>
      <vt:lpstr>Arial</vt:lpstr>
      <vt:lpstr>Calibri</vt:lpstr>
      <vt:lpstr>Canva Sans</vt:lpstr>
      <vt:lpstr>Hammersmith One</vt:lpstr>
      <vt:lpstr>Helvetica World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 Word Practical Guide — Tabs, Groups &amp; Procedures</dc:title>
  <dc:subject>MS Word Practical Guide</dc:subject>
  <dc:creator>Utkarsh kumar</dc:creator>
  <cp:lastModifiedBy>Utkarsh kumar</cp:lastModifiedBy>
  <cp:revision>9</cp:revision>
  <dcterms:created xsi:type="dcterms:W3CDTF">2026-10-04T13:10:00Z</dcterms:created>
  <dcterms:modified xsi:type="dcterms:W3CDTF">2026-10-04T17:56:36Z</dcterms:modified>
</cp:coreProperties>
</file>