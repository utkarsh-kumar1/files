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302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D7AFBF-6380-4EB8-978E-44359A463FDF}" type="datetimeFigureOut">
              <a:t>10/4/2026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F6C497-2BD9-42EF-9296-4C30725345D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2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19672"/>
            <a:ext cx="11183112" cy="0"/>
          </a:xfrm>
          <a:prstGeom prst="line">
            <a:avLst/>
          </a:prstGeom>
          <a:noFill/>
          <a:ln w="12700">
            <a:solidFill>
              <a:srgbClr val="D7DEE9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1321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 flipH="1">
            <a:off x="8793715" y="0"/>
            <a:ext cx="1446462" cy="6858000"/>
          </a:xfrm>
          <a:custGeom>
            <a:avLst/>
            <a:gdLst/>
            <a:ahLst/>
            <a:cxnLst/>
            <a:rect l="l" t="t" r="r" b="b"/>
            <a:pathLst>
              <a:path w="2169693" h="10287000">
                <a:moveTo>
                  <a:pt x="2169692" y="0"/>
                </a:moveTo>
                <a:lnTo>
                  <a:pt x="0" y="0"/>
                </a:lnTo>
                <a:lnTo>
                  <a:pt x="0" y="10287000"/>
                </a:lnTo>
                <a:lnTo>
                  <a:pt x="2169692" y="10287000"/>
                </a:lnTo>
                <a:lnTo>
                  <a:pt x="2169692" y="0"/>
                </a:lnTo>
                <a:close/>
              </a:path>
            </a:pathLst>
          </a:custGeom>
          <a:blipFill>
            <a:blip r:embed="rId2">
              <a:alphaModFix amt="72000"/>
            </a:blip>
            <a:stretch>
              <a:fillRect l="-8706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564734" y="0"/>
            <a:ext cx="9844965" cy="6858000"/>
            <a:chOff x="0" y="0"/>
            <a:chExt cx="2287864" cy="159372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87864" cy="1593725"/>
            </a:xfrm>
            <a:custGeom>
              <a:avLst/>
              <a:gdLst/>
              <a:ahLst/>
              <a:cxnLst/>
              <a:rect l="l" t="t" r="r" b="b"/>
              <a:pathLst>
                <a:path w="2287864" h="1593725">
                  <a:moveTo>
                    <a:pt x="39319" y="0"/>
                  </a:moveTo>
                  <a:lnTo>
                    <a:pt x="2248545" y="0"/>
                  </a:lnTo>
                  <a:cubicBezTo>
                    <a:pt x="2258973" y="0"/>
                    <a:pt x="2268974" y="4143"/>
                    <a:pt x="2276348" y="11516"/>
                  </a:cubicBezTo>
                  <a:cubicBezTo>
                    <a:pt x="2283721" y="18890"/>
                    <a:pt x="2287864" y="28891"/>
                    <a:pt x="2287864" y="39319"/>
                  </a:cubicBezTo>
                  <a:lnTo>
                    <a:pt x="2287864" y="1554406"/>
                  </a:lnTo>
                  <a:cubicBezTo>
                    <a:pt x="2287864" y="1564834"/>
                    <a:pt x="2283721" y="1574835"/>
                    <a:pt x="2276348" y="1582209"/>
                  </a:cubicBezTo>
                  <a:cubicBezTo>
                    <a:pt x="2268974" y="1589583"/>
                    <a:pt x="2258973" y="1593725"/>
                    <a:pt x="2248545" y="1593725"/>
                  </a:cubicBezTo>
                  <a:lnTo>
                    <a:pt x="39319" y="1593725"/>
                  </a:lnTo>
                  <a:cubicBezTo>
                    <a:pt x="28891" y="1593725"/>
                    <a:pt x="18890" y="1589583"/>
                    <a:pt x="11516" y="1582209"/>
                  </a:cubicBezTo>
                  <a:cubicBezTo>
                    <a:pt x="4143" y="1574835"/>
                    <a:pt x="0" y="1564834"/>
                    <a:pt x="0" y="1554406"/>
                  </a:cubicBezTo>
                  <a:lnTo>
                    <a:pt x="0" y="39319"/>
                  </a:lnTo>
                  <a:cubicBezTo>
                    <a:pt x="0" y="28891"/>
                    <a:pt x="4143" y="18890"/>
                    <a:pt x="11516" y="11516"/>
                  </a:cubicBezTo>
                  <a:cubicBezTo>
                    <a:pt x="18890" y="4143"/>
                    <a:pt x="28891" y="0"/>
                    <a:pt x="39319" y="0"/>
                  </a:cubicBezTo>
                  <a:close/>
                </a:path>
              </a:pathLst>
            </a:custGeom>
            <a:blipFill>
              <a:blip r:embed="rId3"/>
              <a:stretch>
                <a:fillRect t="-333" b="-333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-939436" y="0"/>
            <a:ext cx="10219667" cy="6858000"/>
            <a:chOff x="0" y="0"/>
            <a:chExt cx="4037399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037399" cy="2709333"/>
            </a:xfrm>
            <a:custGeom>
              <a:avLst/>
              <a:gdLst/>
              <a:ahLst/>
              <a:cxnLst/>
              <a:rect l="l" t="t" r="r" b="b"/>
              <a:pathLst>
                <a:path w="4037399" h="2709333">
                  <a:moveTo>
                    <a:pt x="38888" y="0"/>
                  </a:moveTo>
                  <a:lnTo>
                    <a:pt x="3998512" y="0"/>
                  </a:lnTo>
                  <a:cubicBezTo>
                    <a:pt x="4019989" y="0"/>
                    <a:pt x="4037399" y="17411"/>
                    <a:pt x="4037399" y="38888"/>
                  </a:cubicBezTo>
                  <a:lnTo>
                    <a:pt x="4037399" y="2670446"/>
                  </a:lnTo>
                  <a:cubicBezTo>
                    <a:pt x="4037399" y="2680759"/>
                    <a:pt x="4033302" y="2690650"/>
                    <a:pt x="4026009" y="2697943"/>
                  </a:cubicBezTo>
                  <a:cubicBezTo>
                    <a:pt x="4018717" y="2705236"/>
                    <a:pt x="4008825" y="2709333"/>
                    <a:pt x="3998512" y="2709333"/>
                  </a:cubicBezTo>
                  <a:lnTo>
                    <a:pt x="38888" y="2709333"/>
                  </a:lnTo>
                  <a:cubicBezTo>
                    <a:pt x="17411" y="2709333"/>
                    <a:pt x="0" y="2691923"/>
                    <a:pt x="0" y="2670446"/>
                  </a:cubicBezTo>
                  <a:lnTo>
                    <a:pt x="0" y="38888"/>
                  </a:lnTo>
                  <a:cubicBezTo>
                    <a:pt x="0" y="28574"/>
                    <a:pt x="4097" y="18683"/>
                    <a:pt x="11390" y="11390"/>
                  </a:cubicBezTo>
                  <a:cubicBezTo>
                    <a:pt x="18683" y="4097"/>
                    <a:pt x="28574" y="0"/>
                    <a:pt x="38888" y="0"/>
                  </a:cubicBezTo>
                  <a:close/>
                </a:path>
              </a:pathLst>
            </a:custGeom>
            <a:solidFill>
              <a:srgbClr val="066CF4">
                <a:alpha val="85882"/>
              </a:srgbClr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037399" cy="2737908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93"/>
                </a:lnSpc>
              </a:pPr>
              <a:endParaRPr sz="120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685800" y="3644900"/>
            <a:ext cx="8386721" cy="1473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729"/>
              </a:lnSpc>
            </a:pPr>
            <a:r>
              <a:rPr lang="en-US" sz="6662" b="1" spc="-546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MICROSOFT WORD</a:t>
            </a:r>
          </a:p>
          <a:p>
            <a:pPr>
              <a:lnSpc>
                <a:spcPts val="5729"/>
              </a:lnSpc>
            </a:pPr>
            <a:r>
              <a:rPr lang="en-US" sz="6662" b="1" spc="-546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FOR BEGINNERS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5304366"/>
            <a:ext cx="9286959" cy="3379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38"/>
              </a:lnSpc>
            </a:pPr>
            <a:r>
              <a:rPr lang="en-US" sz="2027" spc="488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COMPLETE STEP-BY-STEP TRAINING COURSE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21729" y="730272"/>
            <a:ext cx="1680343" cy="2504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19"/>
              </a:lnSpc>
            </a:pPr>
            <a:r>
              <a:rPr lang="en-US" sz="1999" dirty="0">
                <a:solidFill>
                  <a:srgbClr val="000000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Education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098285" y="5672900"/>
            <a:ext cx="407915" cy="494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19"/>
              </a:lnSpc>
            </a:pPr>
            <a:r>
              <a:rPr lang="en-US" sz="1999" dirty="0">
                <a:solidFill>
                  <a:srgbClr val="000000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731520"/>
            <a:ext cx="10881360" cy="5074920"/>
          </a:xfrm>
          <a:prstGeom prst="roundRect">
            <a:avLst>
              <a:gd name="adj" fmla="val 3604"/>
            </a:avLst>
          </a:prstGeom>
          <a:solidFill>
            <a:srgbClr val="FFFFFF"/>
          </a:solidFill>
          <a:ln w="15240">
            <a:solidFill>
              <a:srgbClr val="D9E5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78992" y="1170432"/>
            <a:ext cx="1828800" cy="292608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70432" y="11887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MS WORD PRACTICAL GUIDE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8992" y="178308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MS Word — Tabs,</a:t>
            </a:r>
            <a:endParaRPr lang="en-US" sz="3400" dirty="0"/>
          </a:p>
          <a:p>
            <a:pPr marL="0" indent="0" algn="l">
              <a:buNone/>
            </a:pPr>
            <a:r>
              <a:rPr lang="en-US" sz="34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Groups &amp; Step-by-Step Procedures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1078992" y="312724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self-explanatory workshop deck: find the feature, follow the click path, perform the steps, and verify the result.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78992" y="4096512"/>
            <a:ext cx="768096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70432" y="411480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75104" y="4096512"/>
            <a:ext cx="768096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066544" y="411480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4096512"/>
            <a:ext cx="768096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62656" y="411480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67328" y="4096512"/>
            <a:ext cx="768096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58768" y="411480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4096512"/>
            <a:ext cx="768096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54880" y="411480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559552" y="4096512"/>
            <a:ext cx="768096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50992" y="411480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55664" y="4096512"/>
            <a:ext cx="768096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47104" y="411480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823960" y="1463040"/>
            <a:ext cx="2057400" cy="1828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823960" y="1463040"/>
            <a:ext cx="54864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006840" y="1609344"/>
            <a:ext cx="1709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 NOTE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006840" y="1892808"/>
            <a:ext cx="1691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Ribbon names and locations can vary slightly between Word versions. The feature names and workflow remain broadly the same.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823960" y="3520440"/>
            <a:ext cx="2057400" cy="1783080"/>
          </a:xfrm>
          <a:prstGeom prst="roundRect">
            <a:avLst>
              <a:gd name="adj" fmla="val 6154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823960" y="3520440"/>
            <a:ext cx="54864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006840" y="3666744"/>
            <a:ext cx="1709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USE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006840" y="3950208"/>
            <a:ext cx="169164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Read the Click Path.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Perform each numbered step.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Compare your screen with Expected Result.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Repeat the Try This example.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078992" y="5230368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Syllabus coverage: File • Home • Insert • Layout • Table Tools • Mailings • Review • View • Shortcut Keys</a:t>
            </a:r>
            <a:endParaRPr lang="en-US" sz="11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987552"/>
            <a:ext cx="10881360" cy="416052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 w="15240">
            <a:solidFill>
              <a:srgbClr val="D7DE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987552"/>
            <a:ext cx="146304" cy="41605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" y="1353312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716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87452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Word interface &amp; file operations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761488"/>
            <a:ext cx="9601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the commands used to create, open, save, convert, protect and print documents.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3977640"/>
            <a:ext cx="9601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the Click Path → perform the steps → check the Expected Result.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24128" y="4709160"/>
            <a:ext cx="2468880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47274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SELF-EXPLANATORY PRACTICAL GUIDE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652760" y="608076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 •  Open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Opening an existing document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2452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8853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As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1324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7725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→ Open → Browse → select the .docx file → Open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Microsoft Word and select File.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Open, then Browse to the folder containing the document.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file and click Open.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the document content and formatting appear correctly.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selected document opens in Word and can now be edited.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any .docx file from Documents and check its title at the top.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1030659" y="6207843"/>
            <a:ext cx="106893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Keyboard shortcut: Ctrl + O opens the Open dialog.</a:t>
            </a:r>
            <a:endParaRPr lang="en-US" sz="11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 •  Save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Saving a document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2452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8853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As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→ Save → choose location/name only when Word asks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creating or editing the document, select File → Save.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time, choose a location and enter a file name.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default Word format (.docx) unless another format is required.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again after important edits.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changes are stored in the document file.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“My First Word Document”, save it as MyDocument.docx, close and reopen it.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010412" y="6213348"/>
            <a:ext cx="10689336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Keyboard shortcut: Ctrl + S saves the current document.</a:t>
            </a:r>
            <a:endParaRPr lang="en-US" sz="11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 •  Save 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Changing format with Save As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As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Type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→ Save As → Browse → Save as type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document and select File → Save As.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destination folder and enter a file name.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Save as type list.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required format, such as Word Document or PDF, then save.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second copy is created in the selected format; the original file remains available.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a Word document as PDF and open the PDF to verify the layout.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60704" y="6236208"/>
            <a:ext cx="10689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Save As when you need a separate copy or a different file format.</a:t>
            </a:r>
            <a:endParaRPr lang="en-US" sz="11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 •  Export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Importing, exporting &amp; converting documents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As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source file → File → Save As / Export → choose target format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source document in Word.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another editable format, use File → Save As and select the target type.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PDF, use File → Export or Save As → PDF.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converted file and verify tables, images and page layout.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document is available in another file format while preserving as much layout as the target format allows.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Convert .docx → PDF. Compare page breaks and table alignment.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982980" y="6227064"/>
            <a:ext cx="10689336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Conversion can change advanced formatting when the target format supports fewer Word features.</a:t>
            </a:r>
            <a:endParaRPr lang="en-US" sz="11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 •  New / Help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Templates &amp; Help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→ New → choose a template  |  Help → type your question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File → New and choose a blank document or a template.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using a template, select the template and create the document.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assistance, open Help and type a feature name or question.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matching help topic and follow its instructions.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ready-made document starts from the selected template, or Word displays help for the requested feature.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Resume template document, then use Help to search “change margins”.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995763" y="6213348"/>
            <a:ext cx="10689336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Templates save time by providing predefined layout and formatting.</a:t>
            </a:r>
            <a:endParaRPr lang="en-US" sz="11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 •  Protect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security / protection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527048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1399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 Document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65576" y="1901952"/>
            <a:ext cx="1207008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9584" y="2011680"/>
            <a:ext cx="1078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→ Info → Protect Document → choose a protection method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document and select File → Info.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Protect Document.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required protection option available in your Word version.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and confirm the password/restriction when prompted.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document has an added protection layer, such as restricted editing or password protection.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 password to a practice document, close it, and confirm Word asks for the password when reopening.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88136" y="6185916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password safe. Do not use document protection as a substitute for secure storage.</a:t>
            </a:r>
            <a:endParaRPr lang="en-US" sz="11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 •  Print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Printing documents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Print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→ Print → Printer → Settings → Preview → Print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File → Print.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printer and specify copies or page range.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the Print Preview on the right.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Adjust orientation, paper/other visible settings if required, then click Print.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selected pages are sent to the chosen printer using the specified settings.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Print pages 1–2 only, with 2 copies, and verify the preview first.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60704" y="6216800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Ctrl + P opens the Print screen directly.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987552"/>
            <a:ext cx="10881360" cy="416052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 w="15240">
            <a:solidFill>
              <a:srgbClr val="D7DE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987552"/>
            <a:ext cx="146304" cy="41605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" y="1353312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716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87452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Home tab — editing &amp; text formatting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761488"/>
            <a:ext cx="9601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text, move content, undo mistakes, and control font and paragraph appearance.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3977640"/>
            <a:ext cx="9601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A5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the Click Path → perform the steps → check the Expected Result.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24128" y="4709160"/>
            <a:ext cx="2468880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47274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SELF-EXPLANATORY PRACTICAL GUIDE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652760" y="608076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Clipboard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Cut, Copy &amp; Paste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Clipboard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2452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8853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Editing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Clipboard → Cut / Copy → click destination → Paste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text or object to move/copy.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Cut to move it or Copy to duplicate it.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at the destination location.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Paste and check the inserted content.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Cut moves the selection; Copy keeps the original and creates a duplicate.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a sentence, copy it, click at the end of the paragraph and paste it.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094944" y="6204204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Ctrl + X = Cut, Ctrl + C = Copy, Ctrl + V = Paste.</a:t>
            </a:r>
            <a:endParaRPr lang="en-US" sz="11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Undo / Redo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Undo and Redo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Clipboard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Redo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Quick Access Toolbar / Home-area controls → Undo or Redo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 a change, such as deleting a sentence.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Undo to reverse the last action.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Redo to restore an action that was undone.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 as needed, watching the document after each action.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Undo reverses recent changes; Redo reapplies a change that was undone.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Delete a paragraph → Undo → Redo → observe the document return to each state.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758952" y="6455664"/>
            <a:ext cx="1068933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25000" lnSpcReduction="20000"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Ctrl + Z = Undo; Ctrl + Y = Redo.</a:t>
            </a:r>
            <a:endParaRPr lang="en-US" sz="11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Font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 selection, style &amp; size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Clipboard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2452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8853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Styles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1324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7725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Editing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Font → select font name → select size / font style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text you want to format.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font-name list and choose a typeface.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font-size list and choose a size, or type the size.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 font style available for the selected text.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selected characters use the chosen font type and size.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“Computer Science”, then apply a different font and increase it to 20 pt.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1094944" y="6227064"/>
            <a:ext cx="10689336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text first; otherwise, the new formatting usually applies to the next text you type.</a:t>
            </a:r>
            <a:endParaRPr lang="en-US" sz="11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Font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 colour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Font → Font Color ▼ → choose a colour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target text.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Font Color drop-down.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colour from the palette.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elsewhere and verify only the selected text changed colour.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selected text displays in the chosen font colour.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the words “Important Notice” red while leaving the rest of the paragraph unchanged.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758952" y="6455664"/>
            <a:ext cx="1068933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25000" lnSpcReduction="20000"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colour sparingly so the document remains readable when printed.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Font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Bold, Italic &amp; Underline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Font → B / I / U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word or phrase.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B for Bold, I for Italic, or U for Underline.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more than one when required.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the same control again to remove the formatting.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selected text is visually emphasized according to the chosen style.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Format “MS Word Workshop” as Bold + Italic and underline the word Workshop.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94944" y="6204204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Ctrl + B, Ctrl + I and Ctrl + U are the matching shortcuts.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Font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settings &amp; highlighting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Font → Change Case / Text Highlight Color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text.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Change Case and select UPPERCASE, lowercase, Title Case or another available option.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text again if needed and choose Text Highlight Color.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Pick the highlight colour and check the result.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Letter casing changes without retyping, and the selected text receives a visible highlight.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Convert “computer programming” to “COMPUTER PROGRAMMING” and highlight it.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188720" y="6185916"/>
            <a:ext cx="10689336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Highlighting is different from font colour: highlight changes the background behind the text.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 •  Symbols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Inserting special symbols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340864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335024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1207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Illustrations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462272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26280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Symbols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→ Symbols → Symbol → More Symbols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the cursor where the symbol should appear.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Insert → Symbol.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symbol from the available list or More Symbols.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Insert, then Close the symbol dialog.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chosen special character is inserted at the cursor position.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symbols such as ©, ₹, ± or → into a paragraph.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207008" y="6184330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symbols depend on the selected font and Unicode support.</a:t>
            </a:r>
            <a:endParaRPr lang="en-US" sz="11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Styles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Applying a paragraph style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Styles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Styles → choose a paragraph style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the cursor in the paragraph or select the paragraph.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Styles gallery.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required style.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the paragraph’s appearance and spacing.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paragraph uses a consistent preset formatting style.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 Heading style to “Introduction” and a normal paragraph style to its description.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758952" y="6455664"/>
            <a:ext cx="1068933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25000" lnSpcReduction="20000"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Styles are useful when the same formatting must be reused consistently.</a:t>
            </a:r>
            <a:endParaRPr lang="en-US" sz="11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Paragraph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 alignment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Paragraph → Align Left / Center / Right / Justify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the cursor in the paragraph or select multiple paragraphs.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Align Left, Center, Right or Justify.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how the paragraph edges change.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alignment that matches the document requirement.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paragraph text is aligned to the selected position.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Center a title, then justify the body paragraph below it.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60704" y="6220812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Ctrl + L = left, Ctrl + E = center, Ctrl + R = right, Ctrl + J = justify.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Paragraph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 indents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Paragraph → Increase/Decrease Indent  |  Ruler for exact indents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or place the cursor in the paragraph.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Increase Indent or Decrease Indent.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more control, use the indent markers on the ruler.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the first-line or left/right position visually.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paragraph starts farther from or closer to the page margin.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Indent a quoted paragraph by one level without changing the page margin.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161288" y="6191631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ruler when you need precise left, right or first-line indentation.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Paragraph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 spacing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Paragraph → Line and Paragraph Spacing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paragraph(s).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Line and Paragraph Spacing.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spacing value such as 1.0, 1.15, 1.5 or 2.0.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the space between lines and paragraphs.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vertical spacing between lines changes for the selected paragraphs.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1.5 line spacing to a one-page report paragraph.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60704" y="6231102"/>
            <a:ext cx="10689336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 spacing affects lines inside a paragraph; paragraph spacing controls space before/after paragraphs.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Paragraph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Bullets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Paragraph → Bullets ▼ → choose a bullet style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separate items on separate lines or select an existing list.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lines.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Bullets and select the required bullet style.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Enter for the next bullet and Enter twice to finish the list.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item appears as a bulleted list item with consistent indentation.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list of 4 MS Word features: Formatting, Tables, Mail Merge, Printing.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69848" y="6226691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Bullets are best for unordered information.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Paragraph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Numbering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Paragraph → Numbering ▼ → choose a numbering style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 each step on a separate line.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lines.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Numbering and select the required style.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the sequence if a step is inserted or removed.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list receives an automatic numbered sequence.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numbered steps for “How to Save a Document”.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60704" y="6231636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Numbering is useful when order matters.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Editing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Find, Search &amp; Replace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Editing → Find / Replace  |  Ctrl + F / Ctrl + H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Find and type the word or phrase you need to locate.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each match and move through the results.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replacement, open Replace and enter the new text.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Replace or Replace All only after checking the target text carefully.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 finds occurrences quickly and can change matching text without manual searching.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“Word” in the document; then replace “MS Word” with “Microsoft Word”.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758952" y="6455664"/>
            <a:ext cx="1068933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25000" lnSpcReduction="20000"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All is powerful—review the search term before using it.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987552"/>
            <a:ext cx="10881360" cy="416052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 w="15240">
            <a:solidFill>
              <a:srgbClr val="D7DE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987552"/>
            <a:ext cx="146304" cy="41605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" y="1353312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716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87452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Layout &amp; page formatting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761488"/>
            <a:ext cx="9601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page size-related settings, margins, breaks, borders and shading.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3977640"/>
            <a:ext cx="9601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the Click Path → perform the steps → check the Expected Result.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24128" y="4709160"/>
            <a:ext cx="2468880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47274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SELF-EXPLANATORY PRACTICAL GUIDE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652760" y="608076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  •  Page Setup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 formatting &amp; Page Setup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82112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Themes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14300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10149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 Setup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8152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14553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024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33425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Arrange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 → Page Setup → use the available page-format controls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Layout tab.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Page Setup area for page-related settings.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required page options offered by your Word version.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the page preview and document flow after the change.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document page is formatted according to the selected page settings.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a simple one-page notice and adjust its page setup before printing.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117621" y="6223845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some Word versions, page-related commands are spread across Layout and Design tabs.</a:t>
            </a:r>
            <a:endParaRPr lang="en-US" sz="11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  •  Page Setup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82112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14300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10149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 Setup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 → Margins → choose a preset or Custom Margins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Layout → Margins.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preset margin option, or select Custom Margins.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 top, bottom, left and right values when customizing.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the settings and observe the text area change.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writable area between the page edge and document text changes.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all margins to 1 inch (or 2.54 cm) and check the page.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69848" y="6204204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Margins affect the entire page area; paragraph indents affect selected paragraphs.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  •  Breaks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Column break &amp; line break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82112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14300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10149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 Setup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92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56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Breaks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 → Breaks → select the needed break type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the cursor where the content must stop.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columns, create or use a multi-column layout first, then insert a Column Break.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manual line break inside the same paragraph, use Shift + Enter.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where the next text starts.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Column Break moves following text to the next column; a Line Break starts a new line without creating a new paragraph.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a two-column notice, move a heading to the top of the second column using Column Break.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60704" y="6217920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 Break ≠ Paragraph Break. Shift + Enter creates a line break; Enter creates a new paragraph.</a:t>
            </a:r>
            <a:endParaRPr lang="en-US" sz="110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 •  Page Background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Borders &amp; Shading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1901952"/>
            <a:ext cx="1719072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" y="2011680"/>
            <a:ext cx="15910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Formatting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68880" y="1901952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532888" y="2011680"/>
            <a:ext cx="13350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 Background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→ Page Borders  |  Home → Paragraph → Shading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page border, open Design → Page Borders and select a border style.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the colour/width options available and apply to the required pages.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paragraph/cell shading, select the text or table cell.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Paragraph Shading and apply a fill colour.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border appears around the selected page area, and shading appears behind the selected text/cell.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a one-page notice a thin page border and shade its heading paragraph.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1069848" y="6185916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 borders and paragraph/table shading are separate formatting operations.</a:t>
            </a:r>
            <a:endParaRPr lang="en-US" sz="11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987552"/>
            <a:ext cx="10881360" cy="416052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 w="15240">
            <a:solidFill>
              <a:srgbClr val="D7DE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987552"/>
            <a:ext cx="146304" cy="4160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" y="1353312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716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87452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Tables — create, modify &amp; calculate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761488"/>
            <a:ext cx="9601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through the table features exactly as they appear when a table is selected.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3977640"/>
            <a:ext cx="9601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the Click Path → perform the steps → check the Expected Result.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24128" y="4709160"/>
            <a:ext cx="2468880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47274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SELF-EXPLANATORY PRACTICAL GUIDE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652760" y="608076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 •  Tables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Creating a table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340864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→ Table → choose grid size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the cursor where the table should appear.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Insert → Table.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Drag across the grid to select rows and columns.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 text into each cell.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table appears with the selected number of rows and columns.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4-column × 5-row student marks table.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69848" y="6215634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selecting a table, Word displays Table Tools / Table Design and Layout controls.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TOOLS  •  Table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settings &amp; borders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1901952"/>
            <a:ext cx="1271016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" y="201168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Design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020824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084832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table → Table Design → Table Styles / Borders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anywhere inside the table.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Table Design / Table Tools.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table style if required.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Borders to add/remove borders for the selected cells or whole table.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table’s visual style and border lines change according to the selected settings.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 heading style to the first row and visible borders to the full table.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1088136" y="6223472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 group names vary by Word version, but table formatting is available when the table is selected.</a:t>
            </a:r>
            <a:endParaRPr lang="en-US" sz="11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TOOLS  •  Layout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&amp; delete rows/columns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1901952"/>
            <a:ext cx="1271016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" y="201168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Design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020824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084832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Tools → Layout → Rows &amp; Columns → Insert / Delete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inside the row or column near the change you want.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Insert Above/Below or Insert Left/Right.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remove structure, use Delete → Rows / Columns / Table.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that the remaining data is still in the correct cells.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table grows or shrinks while preserving the remaining cell contents.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one column named “Grade” and one row for another student.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1069848" y="6215494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Always check which cell is active before using Delete.</a:t>
            </a:r>
            <a:endParaRPr lang="en-US" sz="11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TOOLS  •  Merge / Split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Merging &amp; splitting cells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cells → Table Tools → Layout → Merge Cells / Split Cells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two or more adjacent cells to merge.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Merge Cells.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split, select a single cell and choose Split Cells.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 the number of rows/columns for the split and apply.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Merged cells become one cell; split cells become multiple cells.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the top row across four columns to create a table title.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1160728" y="6239100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Cells is commonly used for table headings.</a:t>
            </a:r>
            <a:endParaRPr lang="en-US" sz="11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TOOLS  •  Alignment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cell alignment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Alignment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cell(s) → Table Tools → Layout → Alignment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cells whose content needs alignment.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horizontal/vertical alignment from the Alignment group.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that the text sits where expected inside each cell.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Adjust cell size if the content is crowded.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is positioned consistently within the selected cells.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Center student roll numbers and marks, while left-aligning names.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1197487" y="6203737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alignment controls content position inside cells; paragraph alignment can also affect the text.</a:t>
            </a:r>
            <a:endParaRPr lang="en-US" sz="11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TOOLS  •  Data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Sorting table data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table/data → Table Tools → Layout → Sort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inside the table or select the relevant data.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Sort.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column to sort by and the data type/order.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the sort and inspect the resulting row order.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Rows are reordered according to the selected column and sort direction.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Sort a marks table by Marks from largest to smallest.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1020214" y="6203743"/>
            <a:ext cx="10689336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header row marked as a header when Word offers that option.</a:t>
            </a:r>
            <a:endParaRPr lang="en-US" sz="11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TOOLS  •  Formula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a formula in a table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Formula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cursor in result cell → Table Tools → Layout → Formula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numeric table with values above the result cell.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the cursor in the cell where the result should appear.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Formula.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formula such as =SUM(ABOVE), then confirm.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 calculates the formula and places the result in the selected cell.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 20, 30 and 50 in three cells above a total cell; use =SUM(ABOVE) to calculate 100.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44966" y="6229350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 table formulas are simpler than spreadsheet formulas; recalculate when source values change.</a:t>
            </a:r>
            <a:endParaRPr lang="en-US" sz="1100" dirty="0"/>
          </a:p>
        </p:txBody>
      </p:sp>
      <p:sp>
        <p:nvSpPr>
          <p:cNvPr id="4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987552"/>
            <a:ext cx="10881360" cy="416052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 w="15240">
            <a:solidFill>
              <a:srgbClr val="D7DE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987552"/>
            <a:ext cx="146304" cy="41605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" y="1353312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716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87452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Insert, Mail Merge &amp; Review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761488"/>
            <a:ext cx="9601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visual content, generate personalized documents, check spelling and review changes.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3977640"/>
            <a:ext cx="9601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the Click Path → perform the steps → check the Expected Result.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24128" y="4709160"/>
            <a:ext cx="2468880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47274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SELF-EXPLANATORY PRACTICAL GUIDE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652760" y="608076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 •  Illustrations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Inserting pictures, files &amp; Clip Art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340864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335024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1207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Illustrations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462272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26280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Symbols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→ Pictures / Object (or related insert command)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the cursor where the content should appear.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Insert and select Pictures for an image file.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file/object, use the appropriate Object or text/file insertion option available in your Word version.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Resize and position the inserted item as needed.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selected picture or file/object appears inside the document.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a college logo image above a notice heading and resize it proportionally.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071528" y="6226131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Clip Art is available only in older Word versions; in newer versions, use Online Pictures/icons or another available illustration source.</a:t>
            </a:r>
            <a:endParaRPr lang="en-US" sz="11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  •  Mail Merge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Creating a Mail Merge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84064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527048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1399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Mail Merge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65576" y="1901952"/>
            <a:ext cx="1847088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9584" y="2011680"/>
            <a:ext cx="17190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&amp; Insert Fields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04104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68112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Finish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 → Start Mail Merge → Select Recipients → Insert Merge Field → Finish &amp; Merge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388620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the main document, such as a letter or notice.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4279392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311396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426110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Mail Merge and choose the document type.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77240" y="4654296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4686300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61288" y="463600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or create a recipient list.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77240" y="5029200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5061204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61288" y="501091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merge fields such as Name or Address where personalization is required.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77240" y="5404104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77240" y="5436108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161288" y="538581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Preview the results, then Finish &amp; Merge to create/print the merged documents.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main document is combined with recipient data to produce personalized copies.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letter containing “Dear «Name&gt;” and merge it with a three-person list.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1161288" y="6196086"/>
            <a:ext cx="10689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Preview before finishing so field placement and names are correct.</a:t>
            </a:r>
            <a:endParaRPr lang="en-US" sz="1100" dirty="0"/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 •  Proofing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Spell Check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25312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→ Spelling &amp; Grammar / Editor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Review tab.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spelling/grammar checker or Editor available in your version.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each flagged word or sentence.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 a suggested correction, ignore it, or add the word when appropriate.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Spelling/grammar issues are reviewed and the chosen corrections are applied.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“This is a goood document.” and use Spell Check to detect “goood”.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85521" y="6203733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Spell Check suggestions are not always correct—read the full sentence before accepting a change.</a:t>
            </a:r>
            <a:endParaRPr lang="en-US" sz="110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 •  Tracking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Tracking Changes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25312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Comments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2452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8853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1324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7725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675120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39128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→ Track Changes → edit the document → review Changes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on Track Changes.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Edit, insert or delete text as normal.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markup that records the changes.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Accept or Reject to finalize each change or a set of changes.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Edits become visible as tracked changes until they are accepted or rejected.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on tracking, change “B.Tech” to “B.Tech.” and observe the recorded edit.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1010879" y="6203739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Tracking Changes records edits; it is useful when another person must review modifications.</a:t>
            </a:r>
            <a:endParaRPr lang="en-US" sz="1100" dirty="0"/>
          </a:p>
        </p:txBody>
      </p:sp>
      <p:sp>
        <p:nvSpPr>
          <p:cNvPr id="5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987552"/>
            <a:ext cx="10881360" cy="416052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 w="15240">
            <a:solidFill>
              <a:srgbClr val="D7DE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987552"/>
            <a:ext cx="146304" cy="4160520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" y="1353312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716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87452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Interface &amp; shortcuts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761488"/>
            <a:ext cx="9601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ruler, toolbars, icons and keyboard shortcuts to perform common actions faster.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3977640"/>
            <a:ext cx="9601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the Click Path → perform the steps → check the Expected Result.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24128" y="4709160"/>
            <a:ext cx="2468880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47274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SELF-EXPLANATORY PRACTICAL GUIDE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652760" y="608076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  •  Show / Interface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Ruler, toolbars &amp; icons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66560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Zoom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2452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8853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 → Show → Ruler  |  Quick Access Toolbar / Ribbon icons for commands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View and enable Ruler if it is hidden.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horizontal ruler to set indents and tab positions.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common toolbar/Ribbon icons such as Save, Undo, Bold and Print.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Quick Access Toolbar for frequently repeated commands.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ruler becomes available for visual positioning, and toolbar/Ribbon icons provide quick access to common commands.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on the ruler and drag the left indent marker to change a paragraph’s start position.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069848" y="6217920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Icon appearance can vary by Word version, but the command names and tooltips help identify them.</a:t>
            </a:r>
            <a:endParaRPr lang="en-US" sz="11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  •  Shortcut Keys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Essential MS Word shortcut keys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40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Keyboard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keyboard shortcut directly when the cursor is in the document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61288" y="388620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Ctrl + O to open a file and Ctrl + S to save.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" y="4279392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4311396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61288" y="426110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Ctrl + X / C / V for Cut / Copy / Paste.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77240" y="4654296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" y="4686300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61288" y="463600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Ctrl + Z / Y for Undo / Redo.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77240" y="5029200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5061204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61288" y="501091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Ctrl + F to Find and Ctrl + H to Replace.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77240" y="5404104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5436108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61288" y="538581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Ctrl + B / I / U for Bold / Italic / Underline; Ctrl + P to print.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Common commands execute immediately without navigating through the Ribbon.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a sentence → Ctrl + C → click elsewhere → Ctrl + V → Ctrl + Z.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69848" y="6224078"/>
            <a:ext cx="106893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Memorize shortcuts only after understanding the corresponding Ribbon command.</a:t>
            </a:r>
            <a:endParaRPr lang="en-US" sz="110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PRACTICE  •  Checklist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 the full practical workflow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41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Clipboard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2452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8853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Editing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→ Format → Insert → Table → Review → Save → Print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4360" y="3383280"/>
            <a:ext cx="110185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35844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PRACTICE TASK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41248" y="3977640"/>
            <a:ext cx="256032" cy="25603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41248" y="4005072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1225296" y="3968496"/>
            <a:ext cx="9692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one-page notice and save it as a .docx file.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41248" y="4370832"/>
            <a:ext cx="256032" cy="25603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41248" y="4398264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1225296" y="4361688"/>
            <a:ext cx="9692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title style; apply font size, colour, Bold and Center alignment.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41248" y="4764024"/>
            <a:ext cx="256032" cy="25603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41248" y="479145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1225296" y="4754880"/>
            <a:ext cx="9692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bulleted or numbered list and adjust indentation/line spacing.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1248" y="5157216"/>
            <a:ext cx="256032" cy="25603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41248" y="5184648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1225296" y="5148072"/>
            <a:ext cx="9692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a 4 × 5 table; add/delete a row, merge heading cells, sort marks and calculate a total.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841248" y="5550408"/>
            <a:ext cx="256032" cy="25603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41248" y="5577840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1225296" y="5541264"/>
            <a:ext cx="9692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a picture, run Spell Check, turn on Track Changes, then Save As PDF and check Print Preview.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94360" y="6044184"/>
            <a:ext cx="11018520" cy="347472"/>
          </a:xfrm>
          <a:prstGeom prst="roundRect">
            <a:avLst>
              <a:gd name="adj" fmla="val 31579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" y="6044184"/>
            <a:ext cx="54864" cy="34747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77240" y="6190488"/>
            <a:ext cx="10671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SELF-CHECK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1673352" y="6144768"/>
            <a:ext cx="10652760" cy="39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should be able to identify the Tab → Group, perform the feature without assistance, and verify the result on screen.</a:t>
            </a:r>
            <a:endParaRPr lang="en-US" sz="1400" dirty="0"/>
          </a:p>
        </p:txBody>
      </p:sp>
      <p:sp>
        <p:nvSpPr>
          <p:cNvPr id="4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5541</Words>
  <Application>Microsoft Office PowerPoint</Application>
  <PresentationFormat>Widescreen</PresentationFormat>
  <Paragraphs>1344</Paragraphs>
  <Slides>47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4" baseType="lpstr">
      <vt:lpstr>Aptos</vt:lpstr>
      <vt:lpstr>Arial</vt:lpstr>
      <vt:lpstr>Calibri</vt:lpstr>
      <vt:lpstr>Canva Sans</vt:lpstr>
      <vt:lpstr>Hammersmith One</vt:lpstr>
      <vt:lpstr>Helvetica World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 Word Practical Guide — Tabs, Groups &amp; Procedures</dc:title>
  <dc:subject>MS Word Practical Guide</dc:subject>
  <dc:creator>OpenAI</dc:creator>
  <cp:lastModifiedBy>Utkarsh kumar</cp:lastModifiedBy>
  <cp:revision>6</cp:revision>
  <dcterms:created xsi:type="dcterms:W3CDTF">2026-10-04T13:10:00Z</dcterms:created>
  <dcterms:modified xsi:type="dcterms:W3CDTF">2026-10-04T16:06:20Z</dcterms:modified>
</cp:coreProperties>
</file>