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ed Hat Text Bold"/>
      <p:regular r:id="rId201314"/>
    </p:embeddedFont>
    <p:embeddedFont>
      <p:font typeface="Red Hat Text"/>
      <p:regular r:id="rId201315"/>
    </p:embeddedFont>
    <p:embeddedFont>
      <p:font typeface="Roboto Ligh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05432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MS Word Workshop — Syllabus &amp; Hands‑On Guide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526830"/>
            <a:ext cx="622363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Practical, step‑by‑step workshop for office staff: opening &amp; saving files, editing, formatting, tables, page layout, tools, printing and shortcuts. Each module pairs short instructions with a live demo — leave space for screenshots where indicated.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102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Table of Content 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706662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F3E8E8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1906091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319040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Files: Open, Save, Save As, Convert &amp; Export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1706662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F3E8E8"/>
          </a:solidFill>
          <a:ln/>
        </p:spPr>
      </p:sp>
      <p:sp>
        <p:nvSpPr>
          <p:cNvPr id="7" name="Text 5"/>
          <p:cNvSpPr/>
          <p:nvPr/>
        </p:nvSpPr>
        <p:spPr>
          <a:xfrm>
            <a:off x="4562460" y="1906091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2460" y="2319040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Editing basics: Type, Select, Cut/Copy/Paste, Undo/Redo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1706662"/>
            <a:ext cx="3465624" cy="1450181"/>
          </a:xfrm>
          <a:prstGeom prst="roundRect">
            <a:avLst>
              <a:gd name="adj" fmla="val 2063"/>
            </a:avLst>
          </a:prstGeom>
          <a:solidFill>
            <a:srgbClr val="F3E8E8"/>
          </a:solidFill>
          <a:ln/>
        </p:spPr>
      </p:sp>
      <p:sp>
        <p:nvSpPr>
          <p:cNvPr id="10" name="Text 8"/>
          <p:cNvSpPr/>
          <p:nvPr/>
        </p:nvSpPr>
        <p:spPr>
          <a:xfrm>
            <a:off x="8227410" y="1906091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7410" y="2319040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 &amp; Replace, Using Help, Toolbars &amp; Ruler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3356273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F3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897510" y="355570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7510" y="3968651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Formatting text &amp; paragraphs, styles, bullets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63035" y="3356273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F3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4562460" y="355570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2460" y="3968651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Page layout, margins, headers, breaks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27985" y="3356273"/>
            <a:ext cx="3465624" cy="1450181"/>
          </a:xfrm>
          <a:prstGeom prst="roundRect">
            <a:avLst>
              <a:gd name="adj" fmla="val 2063"/>
            </a:avLst>
          </a:prstGeom>
          <a:solidFill>
            <a:srgbClr val="F3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7410" y="3555702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7410" y="3968651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Tables &amp; drawings: insert, edit, formulas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98086" y="5005884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F3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897510" y="520531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7510" y="5618262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Tools: Spell check, Mail Merge, Track Changes, Security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195560" y="5005884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F3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6394985" y="5205313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94985" y="5618262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Printing, export, shortcuts &amp; wrap‑up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72300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1 — Opening, Saving &amp; File Formats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195513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Quick steps: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086" y="2739033"/>
            <a:ext cx="6223638" cy="205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Open: File → Open → Browse or Recent files; pin frequently used files.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Save vs Save As: Save updates current file; Save As creates a new copy (choose location &amp; format).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Convert/Export: File → Save As → choose .docx, .pdf, .rtf or older .doc; use Export → Create PDF/XPS for distribution.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086" y="5017988"/>
            <a:ext cx="6223638" cy="1116905"/>
          </a:xfrm>
          <a:prstGeom prst="roundRect">
            <a:avLst>
              <a:gd name="adj" fmla="val 2679"/>
            </a:avLst>
          </a:prstGeom>
          <a:solidFill>
            <a:srgbClr val="FAD1D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10" y="5308600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6266" y="5267226"/>
            <a:ext cx="537603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Demo: leave space for screenshot of File menu (insert screenshot here).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288183"/>
            <a:ext cx="4026196" cy="22815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7188" y="1405334"/>
            <a:ext cx="6282672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2 — Editing Essentials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17188" y="2191445"/>
            <a:ext cx="689225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Core editing actions with shortcuts (practice each):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17188" y="2690118"/>
            <a:ext cx="6282672" cy="1416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Select text: click + drag, double‑click (word), triple‑click (paragraph).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Cut / Copy / Paste: Ctrl+X, Ctrl+C, Ctrl+V. Use Paste Options to keep source or match destination formatting.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Undo / Redo: Ctrl+Z and Ctrl+Y (or use the toolbar arrows).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217188" y="4330700"/>
            <a:ext cx="6282672" cy="1096963"/>
          </a:xfrm>
          <a:prstGeom prst="roundRect">
            <a:avLst>
              <a:gd name="adj" fmla="val 2728"/>
            </a:avLst>
          </a:prstGeom>
          <a:solidFill>
            <a:srgbClr val="FAD1D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613" y="4627662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65368" y="4559995"/>
            <a:ext cx="543506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Demo: leave space for screenshot of Home ribbon with clipboard (insert screenshot here).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96900"/>
            <a:ext cx="6223638" cy="115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3 — Find, Search &amp; Replace; Toolbars &amp; Help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69971" y="2041922"/>
            <a:ext cx="6833223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Practical tips: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269971" y="2570956"/>
            <a:ext cx="6223638" cy="2384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 (Ctrl+F): jump to words, use match case or whole word.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Replace (Ctrl+H): replace single or all instances; use wildcards for patterns.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Toolbars &amp; Ruler: show/hide Ruler from View → Ruler; customise Quick Access Toolbar for frequent commands.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Help: Press F1 or use the Tell me… box for context help and built‑in tutorials.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69971" y="5172571"/>
            <a:ext cx="6223638" cy="1088529"/>
          </a:xfrm>
          <a:prstGeom prst="roundRect">
            <a:avLst>
              <a:gd name="adj" fmla="val 2706"/>
            </a:avLst>
          </a:prstGeom>
          <a:solidFill>
            <a:srgbClr val="FAD1D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320" y="5452566"/>
            <a:ext cx="245362" cy="1963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08031" y="5414863"/>
            <a:ext cx="5389229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Demo: leave space for screenshot of Replace dialog and Ruler (insert two screenshots).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92733"/>
            <a:ext cx="6223638" cy="115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4 — Formatting Text &amp; Paragraphs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98086" y="2037755"/>
            <a:ext cx="6833223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Stepwise guidance: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98086" y="2566789"/>
            <a:ext cx="6223638" cy="3698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Fonts: select face, size, colour and style from Home → Font. Use theme fonts for consistency.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Emphasis: Bold Ctrl+B, Italic Ctrl+I, Underline Ctrl+U. Change case with Shift+F3.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Highlighting &amp; special symbols: Home → Text Highlight; Insert → Symbol for </a:t>
            </a:r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©</a:t>
            </a:r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®</a:t>
            </a:r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em dash etc.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Paragraphs: alignment (Left, Centre, Right, Justify), indents, line spacing and spacing before/after. Use the Ruler or Paragraph dialog for precise control.</a:t>
            </a:r>
            <a:endParaRPr lang="en-US" sz="1500" dirty="0"/>
          </a:p>
          <a:p>
            <a:pPr algn="l" marL="304800" indent="-304800">
              <a:lnSpc>
                <a:spcPct val="132000"/>
              </a:lnSpc>
              <a:buSzPct val="100000"/>
              <a:buChar char="•"/>
            </a:pPr>
            <a:r>
              <a:rPr lang="en-US" sz="15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Styles: Apply and modify Styles for headings and body text — mandatory for consistent documents and TOC generation.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63142"/>
            <a:ext cx="5173434" cy="2931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6525" y="779562"/>
            <a:ext cx="5173434" cy="108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5 — Page &amp; Layout Settings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326525" y="2030710"/>
            <a:ext cx="5783019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Essential settings: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326525" y="2465784"/>
            <a:ext cx="5173434" cy="243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Page Setup: Layout → Margins, Orientation, Size. Use custom margins for print requirements.</a:t>
            </a:r>
            <a:endParaRPr lang="en-US" sz="1400" dirty="0"/>
          </a:p>
          <a:p>
            <a:pPr algn="l" marL="284480" indent="-284480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Headers &amp; Footers: Insert → Header/Footer; add page numbers and document title.</a:t>
            </a:r>
            <a:endParaRPr lang="en-US" sz="1400" dirty="0"/>
          </a:p>
          <a:p>
            <a:pPr algn="l" marL="284480" indent="-284480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Breaks: Page Break (Ctrl+Enter), Column Break, Section Breaks for differing headers or page orientation.</a:t>
            </a:r>
            <a:endParaRPr lang="en-US" sz="1400" dirty="0"/>
          </a:p>
          <a:p>
            <a:pPr algn="l" marL="284480" indent="-284480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Border &amp; Shading: Home → Borders or Design → Page Borders for framed documents.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326525" y="5095081"/>
            <a:ext cx="5173434" cy="962025"/>
          </a:xfrm>
          <a:prstGeom prst="roundRect">
            <a:avLst>
              <a:gd name="adj" fmla="val 2867"/>
            </a:avLst>
          </a:prstGeom>
          <a:solidFill>
            <a:srgbClr val="FAD1D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373" y="5352752"/>
            <a:ext cx="229785" cy="1838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4006" y="5293519"/>
            <a:ext cx="4392106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Demo: leave space for screenshot of Page Setup and Breaks menu.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95908"/>
            <a:ext cx="6223638" cy="5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6 — Tables &amp; Drawing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98086" y="1355725"/>
            <a:ext cx="6833223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Key tasks for tables: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98086" y="1802408"/>
            <a:ext cx="6223638" cy="926604"/>
          </a:xfrm>
          <a:prstGeom prst="roundRect">
            <a:avLst>
              <a:gd name="adj" fmla="val 2876"/>
            </a:avLst>
          </a:prstGeom>
          <a:solidFill>
            <a:srgbClr val="FAD1D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83" y="2027238"/>
            <a:ext cx="222046" cy="177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326" y="2004913"/>
            <a:ext cx="5468801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Demo: leave space for screenshot of Table Design ribbon and sample table (insert screenshot).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98086" y="3353693"/>
            <a:ext cx="6223638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Insert table: Insert → Table → drag grid or Insert Table (specify rows/columns).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Editing: insert/delete rows or columns, merge &amp; split cells, adjust column width and alignment.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Borders &amp; Shading: Table Design → choose styles, apply or remove borders for cleaner presentation.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Sorting &amp; Formula: Table Layout → Sort; Formula supports SUM, AVERAGE and simple calculations (use proper cell references).</a:t>
            </a:r>
            <a:endParaRPr lang="en-US" sz="1350" dirty="0"/>
          </a:p>
          <a:p>
            <a:pPr algn="l" marL="274320" indent="-274320">
              <a:lnSpc>
                <a:spcPct val="126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Drawing &amp; media: Insert → Pictures, Online Pictures, Icons, Shapes; use Wrap Text to position images.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797050"/>
            <a:ext cx="5759604" cy="32638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9317" y="750689"/>
            <a:ext cx="4640543" cy="1430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7 — Tools: Proofing, Mail Merge, Track Changes &amp; Security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9317" y="2312591"/>
            <a:ext cx="525012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Practical steps: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859317" y="2666107"/>
            <a:ext cx="4640543" cy="2488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Spell &amp; Grammar: Review → Spelling &amp; Grammar or press F7; accept suggestions or add to dictionary.</a:t>
            </a:r>
            <a:endParaRPr lang="en-US" sz="1250" dirty="0"/>
          </a:p>
          <a:p>
            <a:pPr algn="l" marL="254000" indent="-254000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Track Changes: Review → Track Changes — useful for collaborative edits; accept/reject changes and add comments.</a:t>
            </a:r>
            <a:endParaRPr lang="en-US" sz="1250" dirty="0"/>
          </a:p>
          <a:p>
            <a:pPr algn="l" marL="254000" indent="-254000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Mail Merge: Mailings → Start Mail Merge → Letters/Emails; select recipients, insert merge fields, preview and finish.</a:t>
            </a:r>
            <a:endParaRPr lang="en-US" sz="1250" dirty="0"/>
          </a:p>
          <a:p>
            <a:pPr algn="l" marL="254000" indent="-254000">
              <a:lnSpc>
                <a:spcPct val="121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Templates &amp; Security: File → New → choose templates; File → Info → Protect Document to set passwords or restrict editing.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9317" y="5302845"/>
            <a:ext cx="4640543" cy="787995"/>
          </a:xfrm>
          <a:prstGeom prst="roundRect">
            <a:avLst>
              <a:gd name="adj" fmla="val 3085"/>
            </a:avLst>
          </a:prstGeom>
          <a:solidFill>
            <a:srgbClr val="FAD1D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7" y="5504656"/>
            <a:ext cx="202500" cy="16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85857" y="5461794"/>
            <a:ext cx="3951982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Demo: leave space for screenshot of Track Changes and Mail Merge steps.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82116"/>
            <a:ext cx="6223638" cy="1118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Module 8 — Printing, Shortcuts &amp; Workshop Wrap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69971" y="1972270"/>
            <a:ext cx="6833223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Final essentials &amp; cheat sheet: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69971" y="2473027"/>
            <a:ext cx="6223638" cy="2565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Print: File → Print — choose printer, pages, copies, print one or multiple pages per sheet; use Print Preview to check layout.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Shortcuts to remember: Ctrl+S Save, Ctrl+P Print, Ctrl+F Find, Ctrl+Z Undo, Ctrl+Y Redo, Ctrl+K Insert hyperlink.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Export &amp; Backup: Save as PDF for final distribution; back up using OneDrive or external drives.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Next steps: practice exercises, deliverables (sample document), Q&amp;A and support resources.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69971" y="5242719"/>
            <a:ext cx="6223638" cy="1033165"/>
          </a:xfrm>
          <a:prstGeom prst="roundRect">
            <a:avLst>
              <a:gd name="adj" fmla="val 2760"/>
            </a:avLst>
          </a:prstGeom>
          <a:solidFill>
            <a:srgbClr val="FAD1D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070" y="5501878"/>
            <a:ext cx="237623" cy="1901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87791" y="5471418"/>
            <a:ext cx="5415720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Leave space for final screenshots: Print preview, shortcuts cheat sheet, and sample completed document.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2026-10-01T02:10:19Z</dcterms:created>
  <dcterms:modified xsi:type="dcterms:W3CDTF">2026-10-01T02:10:19Z</dcterms:modified>
</cp:coreProperties>
</file>